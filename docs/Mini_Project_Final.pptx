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5.xml" ContentType="application/vnd.openxmlformats-officedocument.presentationml.tags+xml"/>
  <Override PartName="/ppt/theme/themeOverride1.xml" ContentType="application/vnd.openxmlformats-officedocument.themeOverride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tags/tag11.xml" ContentType="application/vnd.openxmlformats-officedocument.presentationml.tags+xml"/>
  <Override PartName="/ppt/notesSlides/notesSlide6.xml" ContentType="application/vnd.openxmlformats-officedocument.presentationml.notesSlide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tags/tag13.xml" ContentType="application/vnd.openxmlformats-officedocument.presentationml.tags+xml"/>
  <Override PartName="/ppt/notesSlides/notesSlide8.xml" ContentType="application/vnd.openxmlformats-officedocument.presentationml.notesSlide+xml"/>
  <Override PartName="/ppt/tags/tag14.xml" ContentType="application/vnd.openxmlformats-officedocument.presentationml.tags+xml"/>
  <Override PartName="/ppt/notesSlides/notesSlide9.xml" ContentType="application/vnd.openxmlformats-officedocument.presentationml.notesSlide+xml"/>
  <Override PartName="/ppt/tags/tag15.xml" ContentType="application/vnd.openxmlformats-officedocument.presentationml.tags+xml"/>
  <Override PartName="/ppt/notesSlides/notesSlide10.xml" ContentType="application/vnd.openxmlformats-officedocument.presentationml.notesSlide+xml"/>
  <Override PartName="/ppt/tags/tag16.xml" ContentType="application/vnd.openxmlformats-officedocument.presentationml.tags+xml"/>
  <Override PartName="/ppt/notesSlides/notesSlide11.xml" ContentType="application/vnd.openxmlformats-officedocument.presentationml.notesSlide+xml"/>
  <Override PartName="/ppt/tags/tag17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8.xml" ContentType="application/vnd.openxmlformats-officedocument.presentationml.tags+xml"/>
  <Override PartName="/ppt/notesSlides/notesSlide16.xml" ContentType="application/vnd.openxmlformats-officedocument.presentationml.notesSlide+xml"/>
  <Override PartName="/ppt/tags/tag19.xml" ContentType="application/vnd.openxmlformats-officedocument.presentationml.tags+xml"/>
  <Override PartName="/ppt/notesSlides/notesSlide17.xml" ContentType="application/vnd.openxmlformats-officedocument.presentationml.notesSlide+xml"/>
  <Override PartName="/ppt/tags/tag20.xml" ContentType="application/vnd.openxmlformats-officedocument.presentationml.tags+xml"/>
  <Override PartName="/ppt/notesSlides/notesSlide18.xml" ContentType="application/vnd.openxmlformats-officedocument.presentationml.notesSlide+xml"/>
  <Override PartName="/ppt/tags/tag21.xml" ContentType="application/vnd.openxmlformats-officedocument.presentationml.tags+xml"/>
  <Override PartName="/ppt/notesSlides/notesSlide19.xml" ContentType="application/vnd.openxmlformats-officedocument.presentationml.notesSlide+xml"/>
  <Override PartName="/ppt/tags/tag22.xml" ContentType="application/vnd.openxmlformats-officedocument.presentationml.tags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  <p:sldMasterId id="2147483663" r:id="rId2"/>
  </p:sldMasterIdLst>
  <p:notesMasterIdLst>
    <p:notesMasterId r:id="rId42"/>
  </p:notesMasterIdLst>
  <p:handoutMasterIdLst>
    <p:handoutMasterId r:id="rId43"/>
  </p:handoutMasterIdLst>
  <p:sldIdLst>
    <p:sldId id="256" r:id="rId3"/>
    <p:sldId id="400" r:id="rId4"/>
    <p:sldId id="401" r:id="rId5"/>
    <p:sldId id="402" r:id="rId6"/>
    <p:sldId id="403" r:id="rId7"/>
    <p:sldId id="435" r:id="rId8"/>
    <p:sldId id="404" r:id="rId9"/>
    <p:sldId id="437" r:id="rId10"/>
    <p:sldId id="405" r:id="rId11"/>
    <p:sldId id="406" r:id="rId12"/>
    <p:sldId id="407" r:id="rId13"/>
    <p:sldId id="408" r:id="rId14"/>
    <p:sldId id="409" r:id="rId15"/>
    <p:sldId id="438" r:id="rId16"/>
    <p:sldId id="439" r:id="rId17"/>
    <p:sldId id="440" r:id="rId18"/>
    <p:sldId id="441" r:id="rId19"/>
    <p:sldId id="442" r:id="rId20"/>
    <p:sldId id="461" r:id="rId21"/>
    <p:sldId id="445" r:id="rId22"/>
    <p:sldId id="446" r:id="rId23"/>
    <p:sldId id="447" r:id="rId24"/>
    <p:sldId id="448" r:id="rId25"/>
    <p:sldId id="449" r:id="rId26"/>
    <p:sldId id="454" r:id="rId27"/>
    <p:sldId id="455" r:id="rId28"/>
    <p:sldId id="456" r:id="rId29"/>
    <p:sldId id="462" r:id="rId30"/>
    <p:sldId id="463" r:id="rId31"/>
    <p:sldId id="464" r:id="rId32"/>
    <p:sldId id="467" r:id="rId33"/>
    <p:sldId id="468" r:id="rId34"/>
    <p:sldId id="465" r:id="rId35"/>
    <p:sldId id="466" r:id="rId36"/>
    <p:sldId id="410" r:id="rId37"/>
    <p:sldId id="411" r:id="rId38"/>
    <p:sldId id="436" r:id="rId39"/>
    <p:sldId id="412" r:id="rId40"/>
    <p:sldId id="413" r:id="rId41"/>
  </p:sldIdLst>
  <p:sldSz cx="9144000" cy="5143500" type="screen16x9"/>
  <p:notesSz cx="6858000" cy="9144000"/>
  <p:embeddedFontLst>
    <p:embeddedFont>
      <p:font typeface="Wingdings 2" panose="05020102010507070707" pitchFamily="18" charset="2"/>
      <p:regular r:id="rId44"/>
    </p:embeddedFont>
  </p:embeddedFontLst>
  <p:custDataLst>
    <p:tags r:id="rId45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E7D4A-8652-4F89-80AA-0D3C1C6E90FD}" v="48" dt="2026-04-15T04:44:57.572"/>
  </p1510:revLst>
</p1510:revInfo>
</file>

<file path=ppt/tableStyles.xml><?xml version="1.0" encoding="utf-8"?>
<a:tblStyleLst xmlns:a="http://schemas.openxmlformats.org/drawingml/2006/main" def="{7EDED495-0DA6-49B9-B132-1CF2D9CB9FE7}">
  <a:tblStyle styleId="{7EDED495-0DA6-49B9-B132-1CF2D9CB9FE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99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handoutMaster" Target="handoutMasters/handoutMaster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microsoft.com/office/2015/10/relationships/revisionInfo" Target="revisionInfo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smiruthi Mathivanan" userId="b523993274da5faf" providerId="LiveId" clId="{17697139-BF82-4018-AC73-08FD59E71BB2}"/>
    <pc:docChg chg="undo redo custSel addSld modSld">
      <pc:chgData name="Saismiruthi Mathivanan" userId="b523993274da5faf" providerId="LiveId" clId="{17697139-BF82-4018-AC73-08FD59E71BB2}" dt="2026-04-15T04:44:51.467" v="344" actId="14100"/>
      <pc:docMkLst>
        <pc:docMk/>
      </pc:docMkLst>
      <pc:sldChg chg="modSp mod">
        <pc:chgData name="Saismiruthi Mathivanan" userId="b523993274da5faf" providerId="LiveId" clId="{17697139-BF82-4018-AC73-08FD59E71BB2}" dt="2026-04-15T04:21:28.543" v="4" actId="14100"/>
        <pc:sldMkLst>
          <pc:docMk/>
          <pc:sldMk cId="1737253227" sldId="405"/>
        </pc:sldMkLst>
        <pc:spChg chg="mod">
          <ac:chgData name="Saismiruthi Mathivanan" userId="b523993274da5faf" providerId="LiveId" clId="{17697139-BF82-4018-AC73-08FD59E71BB2}" dt="2026-04-15T04:21:28.543" v="4" actId="14100"/>
          <ac:spMkLst>
            <pc:docMk/>
            <pc:sldMk cId="1737253227" sldId="405"/>
            <ac:spMk id="2" creationId="{89000032-1A0C-EDD4-0ABE-31C43B787941}"/>
          </ac:spMkLst>
        </pc:spChg>
      </pc:sldChg>
      <pc:sldChg chg="modSp mod">
        <pc:chgData name="Saismiruthi Mathivanan" userId="b523993274da5faf" providerId="LiveId" clId="{17697139-BF82-4018-AC73-08FD59E71BB2}" dt="2026-04-15T04:21:47.977" v="9" actId="14100"/>
        <pc:sldMkLst>
          <pc:docMk/>
          <pc:sldMk cId="1737253227" sldId="406"/>
        </pc:sldMkLst>
        <pc:spChg chg="mod">
          <ac:chgData name="Saismiruthi Mathivanan" userId="b523993274da5faf" providerId="LiveId" clId="{17697139-BF82-4018-AC73-08FD59E71BB2}" dt="2026-04-15T04:21:47.977" v="9" actId="14100"/>
          <ac:spMkLst>
            <pc:docMk/>
            <pc:sldMk cId="1737253227" sldId="406"/>
            <ac:spMk id="2" creationId="{C7ACF6D8-63E5-3E2D-FE74-2995E5D9D8AD}"/>
          </ac:spMkLst>
        </pc:spChg>
      </pc:sldChg>
      <pc:sldChg chg="modSp mod">
        <pc:chgData name="Saismiruthi Mathivanan" userId="b523993274da5faf" providerId="LiveId" clId="{17697139-BF82-4018-AC73-08FD59E71BB2}" dt="2026-04-15T04:34:52.251" v="240" actId="20577"/>
        <pc:sldMkLst>
          <pc:docMk/>
          <pc:sldMk cId="1737253227" sldId="408"/>
        </pc:sldMkLst>
        <pc:spChg chg="mod">
          <ac:chgData name="Saismiruthi Mathivanan" userId="b523993274da5faf" providerId="LiveId" clId="{17697139-BF82-4018-AC73-08FD59E71BB2}" dt="2026-04-15T04:34:52.251" v="240" actId="20577"/>
          <ac:spMkLst>
            <pc:docMk/>
            <pc:sldMk cId="1737253227" sldId="408"/>
            <ac:spMk id="10" creationId="{00000000-0000-0000-0000-000000000000}"/>
          </ac:spMkLst>
        </pc:spChg>
      </pc:sldChg>
      <pc:sldChg chg="addSp delSp modSp mod">
        <pc:chgData name="Saismiruthi Mathivanan" userId="b523993274da5faf" providerId="LiveId" clId="{17697139-BF82-4018-AC73-08FD59E71BB2}" dt="2026-04-15T04:44:51.467" v="344" actId="14100"/>
        <pc:sldMkLst>
          <pc:docMk/>
          <pc:sldMk cId="1737253227" sldId="410"/>
        </pc:sldMkLst>
        <pc:spChg chg="add">
          <ac:chgData name="Saismiruthi Mathivanan" userId="b523993274da5faf" providerId="LiveId" clId="{17697139-BF82-4018-AC73-08FD59E71BB2}" dt="2026-04-15T04:39:24.180" v="296"/>
          <ac:spMkLst>
            <pc:docMk/>
            <pc:sldMk cId="1737253227" sldId="410"/>
            <ac:spMk id="2" creationId="{36A226B2-0D53-33CF-3E23-B6399A4DAEC4}"/>
          </ac:spMkLst>
        </pc:spChg>
        <pc:spChg chg="add">
          <ac:chgData name="Saismiruthi Mathivanan" userId="b523993274da5faf" providerId="LiveId" clId="{17697139-BF82-4018-AC73-08FD59E71BB2}" dt="2026-04-15T04:39:29.683" v="297"/>
          <ac:spMkLst>
            <pc:docMk/>
            <pc:sldMk cId="1737253227" sldId="410"/>
            <ac:spMk id="3" creationId="{B4E0A030-98D5-C162-50A4-3CE7590FBE8B}"/>
          </ac:spMkLst>
        </pc:spChg>
        <pc:spChg chg="add del mod">
          <ac:chgData name="Saismiruthi Mathivanan" userId="b523993274da5faf" providerId="LiveId" clId="{17697139-BF82-4018-AC73-08FD59E71BB2}" dt="2026-04-15T04:43:06.415" v="329"/>
          <ac:spMkLst>
            <pc:docMk/>
            <pc:sldMk cId="1737253227" sldId="410"/>
            <ac:spMk id="4" creationId="{B730381B-B9EA-9514-E0D5-BEA49720384F}"/>
          </ac:spMkLst>
        </pc:spChg>
        <pc:spChg chg="add">
          <ac:chgData name="Saismiruthi Mathivanan" userId="b523993274da5faf" providerId="LiveId" clId="{17697139-BF82-4018-AC73-08FD59E71BB2}" dt="2026-04-15T04:42:24.668" v="325"/>
          <ac:spMkLst>
            <pc:docMk/>
            <pc:sldMk cId="1737253227" sldId="410"/>
            <ac:spMk id="5" creationId="{3F9B7596-D753-8BD2-77E0-04CAB03F61DB}"/>
          </ac:spMkLst>
        </pc:spChg>
        <pc:spChg chg="add">
          <ac:chgData name="Saismiruthi Mathivanan" userId="b523993274da5faf" providerId="LiveId" clId="{17697139-BF82-4018-AC73-08FD59E71BB2}" dt="2026-04-15T04:42:37.657" v="326"/>
          <ac:spMkLst>
            <pc:docMk/>
            <pc:sldMk cId="1737253227" sldId="410"/>
            <ac:spMk id="6" creationId="{C7534F23-6442-ED28-EDDA-464B854B52CD}"/>
          </ac:spMkLst>
        </pc:spChg>
        <pc:spChg chg="add">
          <ac:chgData name="Saismiruthi Mathivanan" userId="b523993274da5faf" providerId="LiveId" clId="{17697139-BF82-4018-AC73-08FD59E71BB2}" dt="2026-04-15T04:43:01.768" v="327"/>
          <ac:spMkLst>
            <pc:docMk/>
            <pc:sldMk cId="1737253227" sldId="410"/>
            <ac:spMk id="7" creationId="{5D8E0452-F082-D9E5-102A-83B06ACE8ACE}"/>
          </ac:spMkLst>
        </pc:spChg>
        <pc:spChg chg="add mod">
          <ac:chgData name="Saismiruthi Mathivanan" userId="b523993274da5faf" providerId="LiveId" clId="{17697139-BF82-4018-AC73-08FD59E71BB2}" dt="2026-04-15T04:44:33.757" v="340" actId="14100"/>
          <ac:spMkLst>
            <pc:docMk/>
            <pc:sldMk cId="1737253227" sldId="410"/>
            <ac:spMk id="9" creationId="{C7169B3F-CF19-E17A-70D5-ACF22756842C}"/>
          </ac:spMkLst>
        </pc:spChg>
        <pc:spChg chg="mod">
          <ac:chgData name="Saismiruthi Mathivanan" userId="b523993274da5faf" providerId="LiveId" clId="{17697139-BF82-4018-AC73-08FD59E71BB2}" dt="2026-04-15T04:44:51.467" v="344" actId="14100"/>
          <ac:spMkLst>
            <pc:docMk/>
            <pc:sldMk cId="1737253227" sldId="410"/>
            <ac:spMk id="10" creationId="{00000000-0000-0000-0000-000000000000}"/>
          </ac:spMkLst>
        </pc:spChg>
      </pc:sldChg>
      <pc:sldChg chg="modSp mod">
        <pc:chgData name="Saismiruthi Mathivanan" userId="b523993274da5faf" providerId="LiveId" clId="{17697139-BF82-4018-AC73-08FD59E71BB2}" dt="2026-04-15T04:37:44.580" v="289" actId="2711"/>
        <pc:sldMkLst>
          <pc:docMk/>
          <pc:sldMk cId="1737253227" sldId="411"/>
        </pc:sldMkLst>
        <pc:graphicFrameChg chg="modGraphic">
          <ac:chgData name="Saismiruthi Mathivanan" userId="b523993274da5faf" providerId="LiveId" clId="{17697139-BF82-4018-AC73-08FD59E71BB2}" dt="2026-04-15T04:37:44.580" v="289" actId="2711"/>
          <ac:graphicFrameMkLst>
            <pc:docMk/>
            <pc:sldMk cId="1737253227" sldId="411"/>
            <ac:graphicFrameMk id="13" creationId="{00000000-0000-0000-0000-000000000000}"/>
          </ac:graphicFrameMkLst>
        </pc:graphicFrameChg>
      </pc:sldChg>
      <pc:sldChg chg="modSp mod">
        <pc:chgData name="Saismiruthi Mathivanan" userId="b523993274da5faf" providerId="LiveId" clId="{17697139-BF82-4018-AC73-08FD59E71BB2}" dt="2026-04-15T04:38:02.109" v="293" actId="20577"/>
        <pc:sldMkLst>
          <pc:docMk/>
          <pc:sldMk cId="3844514017" sldId="436"/>
        </pc:sldMkLst>
        <pc:graphicFrameChg chg="mod modGraphic">
          <ac:chgData name="Saismiruthi Mathivanan" userId="b523993274da5faf" providerId="LiveId" clId="{17697139-BF82-4018-AC73-08FD59E71BB2}" dt="2026-04-15T04:38:02.109" v="293" actId="20577"/>
          <ac:graphicFrameMkLst>
            <pc:docMk/>
            <pc:sldMk cId="3844514017" sldId="436"/>
            <ac:graphicFrameMk id="13" creationId="{8ABEA27B-8A7B-3D27-8EBB-DBC54B08E7AA}"/>
          </ac:graphicFrameMkLst>
        </pc:graphicFrameChg>
      </pc:sldChg>
      <pc:sldChg chg="modSp mod">
        <pc:chgData name="Saismiruthi Mathivanan" userId="b523993274da5faf" providerId="LiveId" clId="{17697139-BF82-4018-AC73-08FD59E71BB2}" dt="2026-04-15T04:33:23.264" v="224" actId="20577"/>
        <pc:sldMkLst>
          <pc:docMk/>
          <pc:sldMk cId="4283748707" sldId="463"/>
        </pc:sldMkLst>
        <pc:spChg chg="mod">
          <ac:chgData name="Saismiruthi Mathivanan" userId="b523993274da5faf" providerId="LiveId" clId="{17697139-BF82-4018-AC73-08FD59E71BB2}" dt="2026-04-15T04:33:23.264" v="224" actId="20577"/>
          <ac:spMkLst>
            <pc:docMk/>
            <pc:sldMk cId="4283748707" sldId="463"/>
            <ac:spMk id="2" creationId="{7EAA59B1-9A35-7A75-C687-215D69F2D767}"/>
          </ac:spMkLst>
        </pc:spChg>
      </pc:sldChg>
      <pc:sldChg chg="modSp mod">
        <pc:chgData name="Saismiruthi Mathivanan" userId="b523993274da5faf" providerId="LiveId" clId="{17697139-BF82-4018-AC73-08FD59E71BB2}" dt="2026-04-15T04:33:10.539" v="203" actId="20577"/>
        <pc:sldMkLst>
          <pc:docMk/>
          <pc:sldMk cId="2457718557" sldId="464"/>
        </pc:sldMkLst>
        <pc:spChg chg="mod">
          <ac:chgData name="Saismiruthi Mathivanan" userId="b523993274da5faf" providerId="LiveId" clId="{17697139-BF82-4018-AC73-08FD59E71BB2}" dt="2026-04-15T04:33:10.539" v="203" actId="20577"/>
          <ac:spMkLst>
            <pc:docMk/>
            <pc:sldMk cId="2457718557" sldId="464"/>
            <ac:spMk id="2" creationId="{E8D37E53-3F8C-0D4A-E266-88F9DA798B0F}"/>
          </ac:spMkLst>
        </pc:spChg>
        <pc:spChg chg="mod">
          <ac:chgData name="Saismiruthi Mathivanan" userId="b523993274da5faf" providerId="LiveId" clId="{17697139-BF82-4018-AC73-08FD59E71BB2}" dt="2026-04-15T04:32:29.317" v="198" actId="207"/>
          <ac:spMkLst>
            <pc:docMk/>
            <pc:sldMk cId="2457718557" sldId="464"/>
            <ac:spMk id="3" creationId="{314738C7-4518-198C-72FB-4CA256975D78}"/>
          </ac:spMkLst>
        </pc:spChg>
        <pc:picChg chg="mod">
          <ac:chgData name="Saismiruthi Mathivanan" userId="b523993274da5faf" providerId="LiveId" clId="{17697139-BF82-4018-AC73-08FD59E71BB2}" dt="2026-04-15T04:32:42.823" v="201" actId="1076"/>
          <ac:picMkLst>
            <pc:docMk/>
            <pc:sldMk cId="2457718557" sldId="464"/>
            <ac:picMk id="8" creationId="{9FCF3D5E-9BFA-B8D1-2C59-2D656AE10D6F}"/>
          </ac:picMkLst>
        </pc:picChg>
      </pc:sldChg>
      <pc:sldChg chg="modSp mod">
        <pc:chgData name="Saismiruthi Mathivanan" userId="b523993274da5faf" providerId="LiveId" clId="{17697139-BF82-4018-AC73-08FD59E71BB2}" dt="2026-04-15T04:27:51.268" v="97" actId="14100"/>
        <pc:sldMkLst>
          <pc:docMk/>
          <pc:sldMk cId="600464424" sldId="465"/>
        </pc:sldMkLst>
        <pc:spChg chg="mod">
          <ac:chgData name="Saismiruthi Mathivanan" userId="b523993274da5faf" providerId="LiveId" clId="{17697139-BF82-4018-AC73-08FD59E71BB2}" dt="2026-04-15T04:27:47.089" v="95" actId="14100"/>
          <ac:spMkLst>
            <pc:docMk/>
            <pc:sldMk cId="600464424" sldId="465"/>
            <ac:spMk id="3" creationId="{821940B2-5A2F-A392-613D-56EC9DD375E9}"/>
          </ac:spMkLst>
        </pc:spChg>
        <pc:picChg chg="mod">
          <ac:chgData name="Saismiruthi Mathivanan" userId="b523993274da5faf" providerId="LiveId" clId="{17697139-BF82-4018-AC73-08FD59E71BB2}" dt="2026-04-15T04:27:51.268" v="97" actId="14100"/>
          <ac:picMkLst>
            <pc:docMk/>
            <pc:sldMk cId="600464424" sldId="465"/>
            <ac:picMk id="12" creationId="{AD9DB7AB-D394-84D6-0C76-9E5A819556B8}"/>
          </ac:picMkLst>
        </pc:picChg>
      </pc:sldChg>
      <pc:sldChg chg="modSp new mod">
        <pc:chgData name="Saismiruthi Mathivanan" userId="b523993274da5faf" providerId="LiveId" clId="{17697139-BF82-4018-AC73-08FD59E71BB2}" dt="2026-04-15T04:37:08.275" v="288" actId="1076"/>
        <pc:sldMkLst>
          <pc:docMk/>
          <pc:sldMk cId="347178266" sldId="467"/>
        </pc:sldMkLst>
        <pc:spChg chg="mod">
          <ac:chgData name="Saismiruthi Mathivanan" userId="b523993274da5faf" providerId="LiveId" clId="{17697139-BF82-4018-AC73-08FD59E71BB2}" dt="2026-04-15T04:35:22.941" v="253" actId="20577"/>
          <ac:spMkLst>
            <pc:docMk/>
            <pc:sldMk cId="347178266" sldId="467"/>
            <ac:spMk id="2" creationId="{8179BB06-E0C5-0829-DD39-883C7AA92113}"/>
          </ac:spMkLst>
        </pc:spChg>
        <pc:spChg chg="mod">
          <ac:chgData name="Saismiruthi Mathivanan" userId="b523993274da5faf" providerId="LiveId" clId="{17697139-BF82-4018-AC73-08FD59E71BB2}" dt="2026-04-15T04:37:08.275" v="288" actId="1076"/>
          <ac:spMkLst>
            <pc:docMk/>
            <pc:sldMk cId="347178266" sldId="467"/>
            <ac:spMk id="3" creationId="{3A5E91B0-FE62-F9D5-7BBD-B05D53249CC1}"/>
          </ac:spMkLst>
        </pc:spChg>
        <pc:spChg chg="mod">
          <ac:chgData name="Saismiruthi Mathivanan" userId="b523993274da5faf" providerId="LiveId" clId="{17697139-BF82-4018-AC73-08FD59E71BB2}" dt="2026-04-15T04:27:14.397" v="92" actId="1076"/>
          <ac:spMkLst>
            <pc:docMk/>
            <pc:sldMk cId="347178266" sldId="467"/>
            <ac:spMk id="5" creationId="{6F734565-DD26-AA0C-999A-AAC9141AC97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5.xml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C12E94-0222-462C-98CE-31967F281939}" type="datetimeFigureOut">
              <a:rPr lang="en-US" smtClean="0"/>
              <a:pPr/>
              <a:t>4/26/2026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B9F9E-4938-41F1-BDB3-C4F6F0F3A381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3484923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2246b76675_2_22:notes"/>
          <p:cNvSpPr txBox="1">
            <a:spLocks noGrp="1"/>
          </p:cNvSpPr>
          <p:nvPr>
            <p:ph type="body" idx="1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</p:spPr>
        <p:txBody>
          <a:bodyPr spcFirstLastPara="1" wrap="square" lIns="86100" tIns="86100" rIns="86100" bIns="86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4;g12246b76675_2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2246b76675_2_29:notes"/>
          <p:cNvSpPr txBox="1">
            <a:spLocks noGrp="1"/>
          </p:cNvSpPr>
          <p:nvPr>
            <p:ph type="body" idx="1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</p:spPr>
        <p:txBody>
          <a:bodyPr spcFirstLastPara="1" wrap="square" lIns="86100" tIns="86100" rIns="86100" bIns="86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g12246b76675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3583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2246b76675_2_29:notes"/>
          <p:cNvSpPr txBox="1">
            <a:spLocks noGrp="1"/>
          </p:cNvSpPr>
          <p:nvPr>
            <p:ph type="body" idx="1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</p:spPr>
        <p:txBody>
          <a:bodyPr spcFirstLastPara="1" wrap="square" lIns="86100" tIns="86100" rIns="86100" bIns="86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g12246b76675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3583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2246b76675_2_29:notes"/>
          <p:cNvSpPr txBox="1">
            <a:spLocks noGrp="1"/>
          </p:cNvSpPr>
          <p:nvPr>
            <p:ph type="body" idx="1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</p:spPr>
        <p:txBody>
          <a:bodyPr spcFirstLastPara="1" wrap="square" lIns="86100" tIns="86100" rIns="86100" bIns="86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g12246b76675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35831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2246b76675_2_29:notes"/>
          <p:cNvSpPr txBox="1">
            <a:spLocks noGrp="1"/>
          </p:cNvSpPr>
          <p:nvPr>
            <p:ph type="body" idx="1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</p:spPr>
        <p:txBody>
          <a:bodyPr spcFirstLastPara="1" wrap="square" lIns="86100" tIns="86100" rIns="86100" bIns="86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g12246b76675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3583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2246b76675_2_29:notes"/>
          <p:cNvSpPr txBox="1">
            <a:spLocks noGrp="1"/>
          </p:cNvSpPr>
          <p:nvPr>
            <p:ph type="body" idx="1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</p:spPr>
        <p:txBody>
          <a:bodyPr spcFirstLastPara="1" wrap="square" lIns="86100" tIns="86100" rIns="86100" bIns="86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g12246b76675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3583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2246b76675_2_29:notes"/>
          <p:cNvSpPr txBox="1">
            <a:spLocks noGrp="1"/>
          </p:cNvSpPr>
          <p:nvPr>
            <p:ph type="body" idx="1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</p:spPr>
        <p:txBody>
          <a:bodyPr spcFirstLastPara="1" wrap="square" lIns="86100" tIns="86100" rIns="86100" bIns="86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g12246b76675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35831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2246b76675_2_29:notes"/>
          <p:cNvSpPr txBox="1">
            <a:spLocks noGrp="1"/>
          </p:cNvSpPr>
          <p:nvPr>
            <p:ph type="body" idx="1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</p:spPr>
        <p:txBody>
          <a:bodyPr spcFirstLastPara="1" wrap="square" lIns="86100" tIns="86100" rIns="86100" bIns="86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g12246b76675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35831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2246b76675_2_29:notes"/>
          <p:cNvSpPr txBox="1">
            <a:spLocks noGrp="1"/>
          </p:cNvSpPr>
          <p:nvPr>
            <p:ph type="body" idx="1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</p:spPr>
        <p:txBody>
          <a:bodyPr spcFirstLastPara="1" wrap="square" lIns="86100" tIns="86100" rIns="86100" bIns="86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g12246b76675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35831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2246b76675_2_29:notes"/>
          <p:cNvSpPr txBox="1">
            <a:spLocks noGrp="1"/>
          </p:cNvSpPr>
          <p:nvPr>
            <p:ph type="body" idx="1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</p:spPr>
        <p:txBody>
          <a:bodyPr spcFirstLastPara="1" wrap="square" lIns="86100" tIns="86100" rIns="86100" bIns="86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g12246b76675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35831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2246b76675_2_29:notes"/>
          <p:cNvSpPr txBox="1">
            <a:spLocks noGrp="1"/>
          </p:cNvSpPr>
          <p:nvPr>
            <p:ph type="body" idx="1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</p:spPr>
        <p:txBody>
          <a:bodyPr spcFirstLastPara="1" wrap="square" lIns="86100" tIns="86100" rIns="86100" bIns="86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g12246b76675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35831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2246b76675_2_29:notes"/>
          <p:cNvSpPr txBox="1">
            <a:spLocks noGrp="1"/>
          </p:cNvSpPr>
          <p:nvPr>
            <p:ph type="body" idx="1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</p:spPr>
        <p:txBody>
          <a:bodyPr spcFirstLastPara="1" wrap="square" lIns="86100" tIns="86100" rIns="86100" bIns="86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g12246b76675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35831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03276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1133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826AE-A1C1-CCCD-6965-92C81FFDD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4096DF-0E26-1487-516A-1E3CAB49F7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796718-C8CE-64AE-6197-3446E41094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12156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2246b76675_2_29:notes"/>
          <p:cNvSpPr txBox="1">
            <a:spLocks noGrp="1"/>
          </p:cNvSpPr>
          <p:nvPr>
            <p:ph type="body" idx="1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</p:spPr>
        <p:txBody>
          <a:bodyPr spcFirstLastPara="1" wrap="square" lIns="86100" tIns="86100" rIns="86100" bIns="86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g12246b76675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35831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2246b76675_2_29:notes"/>
          <p:cNvSpPr txBox="1">
            <a:spLocks noGrp="1"/>
          </p:cNvSpPr>
          <p:nvPr>
            <p:ph type="body" idx="1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</p:spPr>
        <p:txBody>
          <a:bodyPr spcFirstLastPara="1" wrap="square" lIns="86100" tIns="86100" rIns="86100" bIns="86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g12246b76675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35831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0425290D-C90F-3CB7-3FA6-5AD1D6F74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2246b76675_2_29:notes">
            <a:extLst>
              <a:ext uri="{FF2B5EF4-FFF2-40B4-BE49-F238E27FC236}">
                <a16:creationId xmlns:a16="http://schemas.microsoft.com/office/drawing/2014/main" id="{584151CB-D9B6-7765-03A5-BC537AB84E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</p:spPr>
        <p:txBody>
          <a:bodyPr spcFirstLastPara="1" wrap="square" lIns="86100" tIns="86100" rIns="86100" bIns="86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g12246b76675_2_29:notes">
            <a:extLst>
              <a:ext uri="{FF2B5EF4-FFF2-40B4-BE49-F238E27FC236}">
                <a16:creationId xmlns:a16="http://schemas.microsoft.com/office/drawing/2014/main" id="{91C5C7BE-E25C-25FB-36E5-DBE927A64C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74656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2246b76675_2_29:notes"/>
          <p:cNvSpPr txBox="1">
            <a:spLocks noGrp="1"/>
          </p:cNvSpPr>
          <p:nvPr>
            <p:ph type="body" idx="1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</p:spPr>
        <p:txBody>
          <a:bodyPr spcFirstLastPara="1" wrap="square" lIns="86100" tIns="86100" rIns="86100" bIns="86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g12246b76675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35831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2246b76675_2_29:notes"/>
          <p:cNvSpPr txBox="1">
            <a:spLocks noGrp="1"/>
          </p:cNvSpPr>
          <p:nvPr>
            <p:ph type="body" idx="1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</p:spPr>
        <p:txBody>
          <a:bodyPr spcFirstLastPara="1" wrap="square" lIns="86100" tIns="86100" rIns="86100" bIns="86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g12246b76675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3583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907148" y="159201"/>
            <a:ext cx="69469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52400" y="742950"/>
            <a:ext cx="8839200" cy="397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✔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 dirty="0"/>
          </a:p>
        </p:txBody>
      </p:sp>
      <p:sp>
        <p:nvSpPr>
          <p:cNvPr id="8" name="Google Shape;55;p13"/>
          <p:cNvSpPr txBox="1">
            <a:spLocks noGrp="1"/>
          </p:cNvSpPr>
          <p:nvPr>
            <p:ph type="dt" idx="10"/>
          </p:nvPr>
        </p:nvSpPr>
        <p:spPr>
          <a:xfrm>
            <a:off x="38100" y="4743450"/>
            <a:ext cx="174498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DC628602-E80A-443E-B1C0-5F4A7E405383}" type="datetime8">
              <a:rPr lang="en-US" smtClean="0"/>
              <a:pPr/>
              <a:t>4/26/2026 9:43 AM</a:t>
            </a:fld>
            <a:endParaRPr lang="en-US" dirty="0"/>
          </a:p>
        </p:txBody>
      </p:sp>
      <p:sp>
        <p:nvSpPr>
          <p:cNvPr id="9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8321040" y="4769644"/>
            <a:ext cx="63246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dirty="0"/>
          </a:p>
        </p:txBody>
      </p:sp>
      <p:sp>
        <p:nvSpPr>
          <p:cNvPr id="10" name="Google Shape;58;p13"/>
          <p:cNvSpPr txBox="1">
            <a:spLocks noGrp="1"/>
          </p:cNvSpPr>
          <p:nvPr>
            <p:ph type="ftr" idx="11"/>
          </p:nvPr>
        </p:nvSpPr>
        <p:spPr>
          <a:xfrm>
            <a:off x="2171700" y="4769644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DCM – 1 / 16-07-2024</a:t>
            </a:r>
          </a:p>
        </p:txBody>
      </p:sp>
    </p:spTree>
    <p:custDataLst>
      <p:tags r:id="rId1"/>
    </p:custData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4E72D-AB25-4B49-B4E4-CA952B7638BA}" type="datetime8">
              <a:rPr lang="en-US" smtClean="0"/>
              <a:pPr/>
              <a:t>4/26/2026 9:43 AM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DCM – 1 / 16-07-2024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851E7-F9CF-4A14-B8D7-9047A6FC7F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491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6322F-693B-4029-AE88-641960BE2DAF}" type="datetime8">
              <a:rPr lang="en-US" smtClean="0"/>
              <a:pPr/>
              <a:t>4/26/2026 9:43 AM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DCM – 1 / 16-07-2024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851E7-F9CF-4A14-B8D7-9047A6FC7F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1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52EF-555E-4CDB-951B-74D54815132A}" type="datetime8">
              <a:rPr lang="en-US" smtClean="0"/>
              <a:pPr/>
              <a:t>4/26/2026 9:43 AM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DCM – 1 / 16-07-2024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851E7-F9CF-4A14-B8D7-9047A6FC7F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126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91D77-767D-460B-BD80-BF6FCC693038}" type="datetime8">
              <a:rPr lang="en-US" smtClean="0"/>
              <a:pPr/>
              <a:t>4/26/2026 9:43 AM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DCM – 1 / 16-07-2024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851E7-F9CF-4A14-B8D7-9047A6FC7F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78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5037-9002-44C3-9180-509294254169}" type="datetime8">
              <a:rPr lang="en-US" smtClean="0"/>
              <a:pPr/>
              <a:t>4/26/2026 9:43 AM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DCM – 1 / 16-07-2024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851E7-F9CF-4A14-B8D7-9047A6FC7F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772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DBC05-3AD4-4C6F-B487-96E374ADA5A7}" type="datetime8">
              <a:rPr lang="en-US" smtClean="0"/>
              <a:pPr/>
              <a:t>4/26/2026 9:43 AM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DCM – 1 / 16-07-2024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851E7-F9CF-4A14-B8D7-9047A6FC7F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57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1DFB8-2650-40CC-A4A4-ACADD3378D42}" type="datetime8">
              <a:rPr lang="en-US" smtClean="0"/>
              <a:pPr/>
              <a:t>4/26/2026 9:43 AM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DCM – 1 / 16-07-2024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851E7-F9CF-4A14-B8D7-9047A6FC7F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448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B6722-AB0F-4500-862C-FB297D3E77A8}" type="datetime8">
              <a:rPr lang="en-US" smtClean="0"/>
              <a:pPr/>
              <a:t>4/26/2026 9:43 AM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DCM – 1 / 16-07-2024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851E7-F9CF-4A14-B8D7-9047A6FC7F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613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486FF-0C61-46EB-A0FD-5F399F54EA08}" type="datetime8">
              <a:rPr lang="en-US" smtClean="0"/>
              <a:pPr/>
              <a:t>4/26/2026 9:43 AM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DCM – 1 / 16-07-2024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851E7-F9CF-4A14-B8D7-9047A6FC7F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353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D4788-8B98-4253-A39F-998C6AC157A7}" type="datetime8">
              <a:rPr lang="en-US" smtClean="0"/>
              <a:pPr/>
              <a:t>4/26/2026 9:43 AM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DCM – 1 / 16-07-2024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851E7-F9CF-4A14-B8D7-9047A6FC7F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0139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3E822-3FAF-4935-8ACA-89E1F02090B9}" type="datetime8">
              <a:rPr lang="en-US" smtClean="0"/>
              <a:pPr/>
              <a:t>4/26/2026 9:43 AM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DCM – 1 / 16-07-2024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851E7-F9CF-4A14-B8D7-9047A6FC7F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451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ags" Target="../tags/tag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4664869"/>
            <a:ext cx="9144000" cy="457200"/>
          </a:xfrm>
          <a:prstGeom prst="rect">
            <a:avLst/>
          </a:prstGeom>
          <a:solidFill>
            <a:srgbClr val="262673"/>
          </a:solidFill>
          <a:ln w="9525" cap="flat" cmpd="sng">
            <a:solidFill>
              <a:srgbClr val="00009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61938" y="61913"/>
            <a:ext cx="6451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152400" y="692944"/>
            <a:ext cx="8839200" cy="397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000097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00009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000097"/>
              </a:buClr>
              <a:buSzPts val="2000"/>
              <a:buFont typeface="Noto Sans Symbols"/>
              <a:buChar char="✔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00009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0097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rgbClr val="000097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rgbClr val="000097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rgbClr val="000097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rgbClr val="000097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54" name="Google Shape;54;p13"/>
          <p:cNvSpPr/>
          <p:nvPr/>
        </p:nvSpPr>
        <p:spPr>
          <a:xfrm>
            <a:off x="0" y="620316"/>
            <a:ext cx="9144000" cy="89297"/>
          </a:xfrm>
          <a:prstGeom prst="rect">
            <a:avLst/>
          </a:prstGeom>
          <a:solidFill>
            <a:srgbClr val="262673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38100" y="4743450"/>
            <a:ext cx="1300163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9E0F2A7-2023-4493-A6C3-93BCBF0D8713}" type="datetime8">
              <a:rPr lang="en-US" smtClean="0"/>
              <a:pPr/>
              <a:t>4/26/2026 9:43 AM</a:t>
            </a:fld>
            <a:endParaRPr lang="en-US" dirty="0"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6819900" y="4769644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dirty="0"/>
          </a:p>
        </p:txBody>
      </p:sp>
      <p:sp>
        <p:nvSpPr>
          <p:cNvPr id="58" name="Google Shape;58;p13"/>
          <p:cNvSpPr txBox="1">
            <a:spLocks noGrp="1"/>
          </p:cNvSpPr>
          <p:nvPr>
            <p:ph type="ftr" idx="11"/>
          </p:nvPr>
        </p:nvSpPr>
        <p:spPr>
          <a:xfrm>
            <a:off x="2171700" y="4769644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DCM – 1 / 16-07-2024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788" y="0"/>
            <a:ext cx="3161211" cy="620316"/>
          </a:xfrm>
          <a:prstGeom prst="rect">
            <a:avLst/>
          </a:prstGeom>
        </p:spPr>
      </p:pic>
    </p:spTree>
    <p:custDataLst>
      <p:tags r:id="rId3"/>
    </p:custDataLst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transition spd="med">
    <p:fade/>
  </p:transition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48C0D-3567-43AD-9D5F-FE52810FC08C}" type="datetime8">
              <a:rPr lang="en-US" smtClean="0"/>
              <a:pPr/>
              <a:t>4/26/2026 9:43 AM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DCM – 1 / 16-07-2024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851E7-F9CF-4A14-B8D7-9047A6FC7FE4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4242073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2.png"/><Relationship Id="rId4" Type="http://schemas.openxmlformats.org/officeDocument/2006/relationships/hyperlink" Target="https://ieeexplore.ieee.org/document/11002470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.emdat.be/data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/>
        </p:nvSpPr>
        <p:spPr>
          <a:xfrm>
            <a:off x="298175" y="1648513"/>
            <a:ext cx="8688758" cy="100523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0" tIns="24125" rIns="0" bIns="0" anchor="t" anchorCtr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Machine Learning–Based Disaster Prediction and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Analysis Using a Neural – XGBoost Model</a:t>
            </a:r>
            <a:endParaRPr lang="en-US" sz="32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dirty="0"/>
          </a:p>
        </p:txBody>
      </p:sp>
      <p:sp>
        <p:nvSpPr>
          <p:cNvPr id="9" name="Google Shape;58;p13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DCM – 1 / 16-07-2024</a:t>
            </a:r>
          </a:p>
        </p:txBody>
      </p:sp>
      <p:sp>
        <p:nvSpPr>
          <p:cNvPr id="8" name="Google Shape;51;p13"/>
          <p:cNvSpPr/>
          <p:nvPr/>
        </p:nvSpPr>
        <p:spPr>
          <a:xfrm>
            <a:off x="0" y="4664869"/>
            <a:ext cx="9144000" cy="457200"/>
          </a:xfrm>
          <a:prstGeom prst="rect">
            <a:avLst/>
          </a:prstGeom>
          <a:solidFill>
            <a:srgbClr val="262673"/>
          </a:solidFill>
          <a:ln w="9525" cap="flat" cmpd="sng">
            <a:solidFill>
              <a:srgbClr val="00009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6;p13"/>
          <p:cNvSpPr txBox="1">
            <a:spLocks/>
          </p:cNvSpPr>
          <p:nvPr/>
        </p:nvSpPr>
        <p:spPr>
          <a:xfrm>
            <a:off x="8316191" y="3730643"/>
            <a:ext cx="63246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EB75019-0DB6-49A4-9C99-05F34ED2317A}" type="slidenum">
              <a:rPr lang="en" smtClean="0"/>
              <a:pPr/>
              <a:t>1</a:t>
            </a:fld>
            <a:endParaRPr lang="en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7F93709-5B15-B4DC-8A57-34F02C7B41B7}"/>
              </a:ext>
            </a:extLst>
          </p:cNvPr>
          <p:cNvSpPr txBox="1">
            <a:spLocks/>
          </p:cNvSpPr>
          <p:nvPr/>
        </p:nvSpPr>
        <p:spPr>
          <a:xfrm>
            <a:off x="0" y="4758061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School</a:t>
            </a:r>
            <a:r>
              <a:rPr kumimoji="0" lang="en-US" sz="1400" b="1" i="0" u="none" strike="noStrike" kern="0" cap="none" spc="0" normalizeH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of Computing 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Content Placeholder 4"/>
          <p:cNvSpPr txBox="1">
            <a:spLocks/>
          </p:cNvSpPr>
          <p:nvPr/>
        </p:nvSpPr>
        <p:spPr>
          <a:xfrm>
            <a:off x="527236" y="3387237"/>
            <a:ext cx="3733800" cy="878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7"/>
              </a:buClr>
              <a:buSzPts val="1800"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Guided by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7"/>
              </a:buClr>
              <a:buSzPts val="1800"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Dr.</a:t>
            </a:r>
            <a:r>
              <a:rPr lang="en-US" sz="1800" dirty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RamKumar K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7"/>
              </a:buClr>
              <a:buSzPts val="1800"/>
              <a:buFont typeface="Arial"/>
              <a:buNone/>
              <a:tabLst/>
              <a:defRPr/>
            </a:pPr>
            <a:r>
              <a:rPr lang="en-US" sz="1800" dirty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Associate Dean-Academic, SOC</a:t>
            </a: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</p:txBody>
      </p:sp>
      <p:sp>
        <p:nvSpPr>
          <p:cNvPr id="13" name="Content Placeholder 5"/>
          <p:cNvSpPr txBox="1">
            <a:spLocks/>
          </p:cNvSpPr>
          <p:nvPr/>
        </p:nvSpPr>
        <p:spPr>
          <a:xfrm>
            <a:off x="5173863" y="3368916"/>
            <a:ext cx="3657600" cy="1146544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Presented by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	127156003-Abarna V(AIDS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	127003222-Sais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miruthi M(CSE)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	127003226-Sanjana A(CSE)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84112" y="0"/>
            <a:ext cx="3359888" cy="691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custDataLst>
      <p:tags r:id="rId2"/>
    </p:custData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819900" cy="715963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Base Paper Details 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10115" y="1028800"/>
            <a:ext cx="8676169" cy="372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Base Paper  Title	:  Machine Learning-Based Disaster Prediction and Impact Analysis 			   Using Neural-XGBoost Model</a:t>
            </a: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Journal Name	: IEEE Explore</a:t>
            </a: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Year of Publication : 2025</a:t>
            </a: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 ISSN      : 2169-3536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Base Paper Link	: 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hlinkClick r:id="rId4"/>
              </a:rPr>
              <a:t>https://ieeexplore.ieee.org/document/11002470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7"/>
              </a:buClr>
              <a:buSzPts val="1800"/>
              <a:buFont typeface="Wingdings 2" pitchFamily="18" charset="2"/>
              <a:buNone/>
              <a:tabLst/>
              <a:defRPr/>
            </a:pP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  <a:sym typeface="Arial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7F93709-5B15-B4DC-8A57-34F02C7B4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758061"/>
            <a:ext cx="4648200" cy="285750"/>
          </a:xfrm>
        </p:spPr>
        <p:txBody>
          <a:bodyPr/>
          <a:lstStyle/>
          <a:p>
            <a:r>
              <a:rPr lang="en-US" sz="1400" dirty="0"/>
              <a:t>School of Computing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805376" y="1"/>
            <a:ext cx="3338623" cy="616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37253227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819900" cy="715963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Abstract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0" y="677715"/>
            <a:ext cx="8846289" cy="394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500" dirty="0">
                <a:latin typeface="Times New Roman"/>
                <a:cs typeface="Times New Roman"/>
              </a:rPr>
              <a:t>		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97"/>
              </a:buClr>
              <a:buSzPts val="1800"/>
              <a:buFont typeface="Wingdings 2" pitchFamily="18" charset="2"/>
              <a:buNone/>
              <a:tabLst/>
              <a:defRPr/>
            </a:pP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  <a:sym typeface="Arial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7F93709-5B15-B4DC-8A57-34F02C7B4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758061"/>
            <a:ext cx="4648200" cy="285750"/>
          </a:xfrm>
        </p:spPr>
        <p:txBody>
          <a:bodyPr/>
          <a:lstStyle/>
          <a:p>
            <a:pPr lvl="0">
              <a:defRPr/>
            </a:pPr>
            <a:r>
              <a:rPr lang="en-US" sz="1400" dirty="0"/>
              <a:t>School of Computing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43182" y="0"/>
            <a:ext cx="3000818" cy="677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F7F555B-E53F-FFCA-4112-3B028F99E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712" y="715963"/>
            <a:ext cx="6263253" cy="388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Natural disasters cause severe global damage.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Prediction is challenging due to complex and imbalanced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Neural-XGBoost (N-XGB)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hybrid model.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EM-DAT dataset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SMOTE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balancing.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Predicts floods, wildfires, and earthquakes.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94.8%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0.95 F1-score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disaster preparedness and decision-making.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7253227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819900" cy="715963"/>
          </a:xfrm>
        </p:spPr>
        <p:txBody>
          <a:bodyPr/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97712" y="2901721"/>
            <a:ext cx="9143999" cy="3831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7F93709-5B15-B4DC-8A57-34F02C7B4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758061"/>
            <a:ext cx="4648200" cy="285750"/>
          </a:xfrm>
        </p:spPr>
        <p:txBody>
          <a:bodyPr/>
          <a:lstStyle/>
          <a:p>
            <a:pPr lvl="0">
              <a:defRPr/>
            </a:pPr>
            <a:r>
              <a:rPr lang="en-US" sz="1400" dirty="0"/>
              <a:t>School of Computing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96615" y="0"/>
            <a:ext cx="3447385" cy="584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5B8999D0-4F23-F699-A1C5-BA9CE7360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533379"/>
            <a:ext cx="8746554" cy="4233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Natural disasters cause major damage to life, infrastructure, and the economy.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Climate change has increased the frequency of disasters worldwide.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Developing countries are more vulnerable due to limited resources.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Accurate prediction models are needed to reduce disaster impact.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Machine learning provides better solutions compared to traditional methods.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Hybrid machine learning models can improve prediction accuracy by capturing complex patterns in      disaster data.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Early disaster prediction helps authorities in better preparedness, resource allocation, and risk management.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7253227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819900" cy="715963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Literature Review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0" y="760021"/>
            <a:ext cx="9144000" cy="372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97"/>
              </a:buClr>
              <a:buSzPts val="1800"/>
              <a:buFont typeface="Wingdings 2" pitchFamily="18" charset="2"/>
              <a:buNone/>
              <a:tabLst/>
              <a:defRPr/>
            </a:pP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  <a:sym typeface="Arial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7F93709-5B15-B4DC-8A57-34F02C7B4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844029"/>
            <a:ext cx="4648200" cy="285750"/>
          </a:xfrm>
        </p:spPr>
        <p:txBody>
          <a:bodyPr/>
          <a:lstStyle/>
          <a:p>
            <a:pPr lvl="0">
              <a:defRPr/>
            </a:pPr>
            <a:r>
              <a:rPr lang="en-US" sz="1400" dirty="0"/>
              <a:t>School of Computing </a:t>
            </a:r>
          </a:p>
        </p:txBody>
      </p:sp>
      <p:graphicFrame>
        <p:nvGraphicFramePr>
          <p:cNvPr id="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6695470"/>
              </p:ext>
            </p:extLst>
          </p:nvPr>
        </p:nvGraphicFramePr>
        <p:xfrm>
          <a:off x="0" y="654219"/>
          <a:ext cx="9146734" cy="418981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30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5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0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39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79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Sl.No</a:t>
                      </a: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2354" marR="9235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r>
                        <a:rPr lang="en-US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Title</a:t>
                      </a: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2354" marR="9235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 Used</a:t>
                      </a: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2354" marR="9235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Merits</a:t>
                      </a: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2354" marR="9235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2354" marR="9235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332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2354" marR="9235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Flood Prediction Using Machine Learning Models: Literature Review</a:t>
                      </a:r>
                    </a:p>
                    <a:p>
                      <a:pPr algn="l"/>
                      <a:r>
                        <a:rPr lang="en-IN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Publisher:</a:t>
                      </a: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MDPI</a:t>
                      </a:r>
                    </a:p>
                  </a:txBody>
                  <a:tcPr marL="92354" marR="92354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for prediction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Vector Machine (SVM) for classification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Tree–based models</a:t>
                      </a:r>
                    </a:p>
                    <a:p>
                      <a:pPr algn="l"/>
                      <a:endParaRPr lang="en-IN" sz="1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2354" marR="92354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performance on structured datasets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to implement and interpret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as baseline models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endParaRPr lang="en-IN" sz="1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2354" marR="92354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 performance with imbalanced data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ability to capture nonlinear patterns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depends heavily on dataset quality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endParaRPr lang="en-IN" sz="1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2354" marR="9235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5688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2354" marR="9235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Techniques for Wildfire Prediction</a:t>
                      </a:r>
                    </a:p>
                    <a:p>
                      <a:pPr algn="l"/>
                      <a:r>
                        <a:rPr lang="en-IN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Publisher:</a:t>
                      </a: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Elsevier</a:t>
                      </a:r>
                    </a:p>
                  </a:txBody>
                  <a:tcPr marL="92354" marR="92354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 for prediction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for classification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 Boosting models</a:t>
                      </a:r>
                    </a:p>
                    <a:p>
                      <a:pPr algn="ctr"/>
                      <a:endParaRPr lang="en-IN" sz="1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2354" marR="92354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 environmental datasets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 training and implementation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good baseline accuracy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endParaRPr lang="en-IN" sz="1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2354" marR="92354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performance for multi-class problems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manual feature engineering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Cannot handle missing data effectively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endParaRPr lang="en-IN" sz="1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2354" marR="9235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34987" y="-1"/>
            <a:ext cx="3009014" cy="627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37253227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819900" cy="715963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Literature Review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0" y="637953"/>
            <a:ext cx="9144000" cy="3851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97"/>
              </a:buClr>
              <a:buSzPts val="1800"/>
              <a:buFont typeface="Wingdings 2" pitchFamily="18" charset="2"/>
              <a:buNone/>
              <a:tabLst/>
              <a:defRPr/>
            </a:pP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  <a:sym typeface="Arial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7F93709-5B15-B4DC-8A57-34F02C7B4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4841485"/>
            <a:ext cx="4648200" cy="285750"/>
          </a:xfrm>
        </p:spPr>
        <p:txBody>
          <a:bodyPr/>
          <a:lstStyle/>
          <a:p>
            <a:pPr lvl="0">
              <a:defRPr/>
            </a:pPr>
            <a:r>
              <a:rPr lang="en-US" sz="1400" dirty="0"/>
              <a:t>School of Computing </a:t>
            </a:r>
          </a:p>
        </p:txBody>
      </p:sp>
      <p:graphicFrame>
        <p:nvGraphicFramePr>
          <p:cNvPr id="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3255635"/>
              </p:ext>
            </p:extLst>
          </p:nvPr>
        </p:nvGraphicFramePr>
        <p:xfrm>
          <a:off x="1" y="715964"/>
          <a:ext cx="9144001" cy="3851329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777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36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72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2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820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Sl.No</a:t>
                      </a: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r>
                        <a:rPr lang="en-US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Title</a:t>
                      </a: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 Used</a:t>
                      </a: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Merits</a:t>
                      </a: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259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CNN-XGBoost Model for Disaster Classification</a:t>
                      </a:r>
                    </a:p>
                    <a:p>
                      <a:r>
                        <a:rPr lang="en-IN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Publisher:</a:t>
                      </a: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IEEE</a:t>
                      </a:r>
                      <a:endParaRPr lang="en-US" sz="1000" b="0" i="0" u="none" strike="noStrike" cap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for feature extraction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 for classification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deep learning framework</a:t>
                      </a:r>
                    </a:p>
                    <a:p>
                      <a:pPr marL="171450" indent="-171450" algn="ctr">
                        <a:buFont typeface="Arial" panose="020B0604020202020204" pitchFamily="34" charset="0"/>
                        <a:buChar char="•"/>
                      </a:pPr>
                      <a:endParaRPr lang="en-IN" sz="1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deep learning and ensemble learning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classification accuracy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feature representation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71450" indent="-171450" algn="ctr">
                        <a:buFont typeface="Arial" panose="020B0604020202020204" pitchFamily="34" charset="0"/>
                        <a:buChar char="•"/>
                      </a:pPr>
                      <a:endParaRPr lang="en-IN" sz="1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 labeled dataset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training process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suitable for tabular disaster data</a:t>
                      </a:r>
                    </a:p>
                    <a:p>
                      <a:pPr marL="171450" indent="-171450" algn="ctr">
                        <a:buFont typeface="Arial" panose="020B0604020202020204" pitchFamily="34" charset="0"/>
                        <a:buChar char="•"/>
                      </a:pPr>
                      <a:endParaRPr lang="en-IN" sz="1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0532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Hybrid Prediction Model Integrating Artificial Intelligence and Geospatial Analysis for Disaster Management</a:t>
                      </a:r>
                    </a:p>
                    <a:p>
                      <a:r>
                        <a:rPr lang="en-IN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Publisher:</a:t>
                      </a: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IEEE</a:t>
                      </a:r>
                      <a:endParaRPr lang="en-US" sz="1000" b="0" i="0" u="none" strike="noStrike" cap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with geospatial analysis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prediction framework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preprocessing and feature engineering</a:t>
                      </a:r>
                    </a:p>
                    <a:p>
                      <a:pPr marL="171450" indent="-171450" algn="ctr">
                        <a:buFont typeface="Arial" panose="020B0604020202020204" pitchFamily="34" charset="0"/>
                        <a:buChar char="•"/>
                      </a:pPr>
                      <a:endParaRPr lang="en-IN" sz="1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spatial data with prediction models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disaster prediction accuracy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decision-making and planning</a:t>
                      </a:r>
                    </a:p>
                    <a:p>
                      <a:pPr marL="171450" indent="-171450" algn="ctr">
                        <a:buFont typeface="Arial" panose="020B0604020202020204" pitchFamily="34" charset="0"/>
                        <a:buChar char="•"/>
                      </a:pPr>
                      <a:endParaRPr lang="en-IN" sz="1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high-quality geospatial data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 complexity is high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depends on data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3250215"/>
                  </a:ext>
                </a:extLst>
              </a:tr>
            </a:tbl>
          </a:graphicData>
        </a:graphic>
      </p:graphicFrame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856103" y="0"/>
            <a:ext cx="3287897" cy="637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37253227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819900" cy="715963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Problem Statement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0" y="715963"/>
            <a:ext cx="9034670" cy="397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7F93709-5B15-B4DC-8A57-34F02C7B4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758061"/>
            <a:ext cx="4648200" cy="285750"/>
          </a:xfrm>
        </p:spPr>
        <p:txBody>
          <a:bodyPr/>
          <a:lstStyle/>
          <a:p>
            <a:pPr lvl="0">
              <a:defRPr/>
            </a:pPr>
            <a:r>
              <a:rPr lang="en-US" sz="1400" dirty="0"/>
              <a:t>School of Computing 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888001" y="-1"/>
            <a:ext cx="3255999" cy="6698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1755844-8CEA-A6BA-E5B5-F4EE4E328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84" y="1161675"/>
            <a:ext cx="8907348" cy="2777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Disaster datasets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imbalanced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(some disasters over-represented).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Important information is often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datasets like EM-DAT.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Traditional models cannot capture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 nonlinear relationships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Deep learning models require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 and large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Existing hybrid models are not suitable for tabular disaster data.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7253227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A5629-B329-720A-8808-08126C04F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8106"/>
            <a:ext cx="6946900" cy="495300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F63F1-5446-B5CC-3CCD-13DDD122AC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003A6-829A-0E32-A333-E6A5FCCD058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9365" y="4735794"/>
            <a:ext cx="4648200" cy="285750"/>
          </a:xfrm>
        </p:spPr>
        <p:txBody>
          <a:bodyPr/>
          <a:lstStyle/>
          <a:p>
            <a:r>
              <a:rPr lang="en-US" sz="1400" dirty="0"/>
              <a:t>School of Computing</a:t>
            </a:r>
          </a:p>
          <a:p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FD8F41A-265E-1A20-7A28-B967D534E0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87929" y="1140589"/>
            <a:ext cx="846557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Name: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EM-DAT (Emergency Events Database)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Provided By: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Center for Research on the Epidemiology of Disasters (CRED)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https://public.emdat.be/data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Global disaster dataset (tabular data)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Around 40–45 attributes</a:t>
            </a:r>
          </a:p>
        </p:txBody>
      </p:sp>
    </p:spTree>
    <p:extLst>
      <p:ext uri="{BB962C8B-B14F-4D97-AF65-F5344CB8AC3E}">
        <p14:creationId xmlns:p14="http://schemas.microsoft.com/office/powerpoint/2010/main" val="2725868520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819900" cy="715963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Objective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639258" y="1028135"/>
            <a:ext cx="8858992" cy="3417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2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7F93709-5B15-B4DC-8A57-34F02C7B4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758061"/>
            <a:ext cx="4648200" cy="285750"/>
          </a:xfrm>
        </p:spPr>
        <p:txBody>
          <a:bodyPr/>
          <a:lstStyle/>
          <a:p>
            <a:pPr lvl="0">
              <a:defRPr/>
            </a:pPr>
            <a:r>
              <a:rPr lang="en-US" sz="1400" dirty="0"/>
              <a:t>School of Computing 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68754" y="0"/>
            <a:ext cx="3075245" cy="645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9000032-1A0C-EDD4-0ABE-31C43B787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02" y="628782"/>
            <a:ext cx="8858992" cy="388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hybrid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Neural-XGBoost (N-XGB)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 for disaster prediction.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handle class imbalance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SMOTE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manage missing data through preprocessing.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improve prediction accuracy by capturing complex disaster patterns.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compare performance with traditional machine learning models.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support disaster preparedness, risk management, and decision-making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introduce Disaster Risk Score Index (DRSI) using SHAP-based explainability for risk assessment.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7253227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819900" cy="715963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Methodology 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989444" y="947180"/>
            <a:ext cx="8858992" cy="3906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7F93709-5B15-B4DC-8A57-34F02C7B4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758061"/>
            <a:ext cx="4648200" cy="285750"/>
          </a:xfrm>
        </p:spPr>
        <p:txBody>
          <a:bodyPr/>
          <a:lstStyle/>
          <a:p>
            <a:pPr lvl="0">
              <a:defRPr/>
            </a:pPr>
            <a:r>
              <a:rPr lang="en-US" sz="1400" dirty="0"/>
              <a:t>School of Computing 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0019" y="0"/>
            <a:ext cx="3053981" cy="698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7ACF6D8-63E5-3E2D-FE74-2995E5D9D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9593"/>
            <a:ext cx="909157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Collect disaster data from the EM-DAT dataset.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Preprocess the data by handling missing values, encoding features, and normalizing values.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Apply SMOTE to balance the dataset.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Extract features using a Neural Network and classify using XGBoost.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Train and test the model using a 70:30 data split.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Evaluate performance using accuracy, F1-score, and other metrics.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Apply SHAP for model explainability and compute DRSI for risk scoring.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7253227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819900" cy="715963"/>
          </a:xfrm>
        </p:spPr>
        <p:txBody>
          <a:bodyPr/>
          <a:lstStyle/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Flow diagram / System Architecture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7F93709-5B15-B4DC-8A57-34F02C7B4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758061"/>
            <a:ext cx="4648200" cy="285750"/>
          </a:xfrm>
        </p:spPr>
        <p:txBody>
          <a:bodyPr/>
          <a:lstStyle/>
          <a:p>
            <a:pPr lvl="0">
              <a:defRPr/>
            </a:pPr>
            <a:r>
              <a:rPr lang="en-US" sz="1400" dirty="0"/>
              <a:t>School of Computing 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888000" y="0"/>
            <a:ext cx="3256000" cy="6564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8650E5-1F0E-5DA4-BD36-B5E30617C55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953" t="23328" r="1552" b="29851"/>
          <a:stretch>
            <a:fillRect/>
          </a:stretch>
        </p:blipFill>
        <p:spPr>
          <a:xfrm>
            <a:off x="0" y="1150620"/>
            <a:ext cx="9067800" cy="29565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37253227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819900" cy="715963"/>
          </a:xfrm>
        </p:spPr>
        <p:txBody>
          <a:bodyPr/>
          <a:lstStyle/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List of Modules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76201" y="715963"/>
            <a:ext cx="9067800" cy="4042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1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1: Literature Review &amp; Problem Analysis – 20%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Module 2: Dataset Generation &amp; Preprocessing – 20%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Module 3: Feature Engineering &amp; Model Development – 25%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Module 4: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&amp; Analysis – 10%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Module 5: Performance Evaluation &amp; Analysis – 10%</a:t>
            </a:r>
          </a:p>
          <a:p>
            <a:pPr marL="171450" lvl="2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Module 6: Explainability &amp; Risk Scoring (SHAP + DRSI) – 15%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7F93709-5B15-B4DC-8A57-34F02C7B4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758061"/>
            <a:ext cx="4648200" cy="285750"/>
          </a:xfrm>
        </p:spPr>
        <p:txBody>
          <a:bodyPr/>
          <a:lstStyle/>
          <a:p>
            <a:pPr lvl="0">
              <a:defRPr/>
            </a:pPr>
            <a:r>
              <a:rPr lang="en-US" sz="1400" dirty="0"/>
              <a:t>School of Computing 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32549" y="0"/>
            <a:ext cx="3011451" cy="677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37253227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819900" cy="715963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Hardware and Software Requirements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76200" y="762656"/>
            <a:ext cx="9144000" cy="3948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endParaRPr lang="en-IN" sz="1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i5 / Ryzen 5 or above</a:t>
            </a:r>
          </a:p>
          <a:p>
            <a:pPr lvl="2"/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RAM: Minimum 8 GB (16 GB recommended)</a:t>
            </a:r>
          </a:p>
          <a:p>
            <a:pPr lvl="2"/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Storage: 256 GB SSD</a:t>
            </a:r>
          </a:p>
          <a:p>
            <a:pPr lvl="2"/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GPU: Optional</a:t>
            </a:r>
          </a:p>
          <a:p>
            <a:pPr lvl="2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endParaRPr lang="en-IN" sz="1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/>
              <a:t>	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7F93709-5B15-B4DC-8A57-34F02C7B4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758061"/>
            <a:ext cx="4648200" cy="285750"/>
          </a:xfrm>
        </p:spPr>
        <p:txBody>
          <a:bodyPr/>
          <a:lstStyle/>
          <a:p>
            <a:pPr lvl="0">
              <a:defRPr/>
            </a:pPr>
            <a:r>
              <a:rPr lang="en-US" sz="1400" dirty="0"/>
              <a:t>School of Computing 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03089" y="0"/>
            <a:ext cx="3040912" cy="730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59AD951-3D8D-AF51-BA2C-B3418A2DE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840" y="2731111"/>
            <a:ext cx="2167581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3.8+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 / VS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TensorFlow / PyTorch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Matplotlib / Seaborn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7253227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12A16-2AC8-DA68-5946-53E16EEB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3568" y="0"/>
            <a:ext cx="7977616" cy="654501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BF7BB-4508-0040-109C-87453E354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 &amp; Preprocessing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EM-DAT dataset is collected and loaded using Python Pandas library.</a:t>
            </a:r>
          </a:p>
          <a:p>
            <a:pPr marL="11430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Code</a:t>
            </a:r>
          </a:p>
          <a:p>
            <a:pPr marL="571500" lvl="1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 = pd.read_excel("Disaster_Datatset.xlsx")</a:t>
            </a:r>
          </a:p>
          <a:p>
            <a:pPr marL="571500" lvl="1" indent="0">
              <a:buNone/>
            </a:pPr>
            <a:r>
              <a:rPr lang="nb-N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print("Dataset Shape:", df.shape)</a:t>
            </a:r>
          </a:p>
          <a:p>
            <a:pPr marL="571500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print("\nColumn Names:")</a:t>
            </a:r>
          </a:p>
          <a:p>
            <a:pPr marL="571500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print(df.columns)</a:t>
            </a:r>
          </a:p>
          <a:p>
            <a:pPr marL="571500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print("\nFirst Five Row ")</a:t>
            </a:r>
          </a:p>
          <a:p>
            <a:pPr marL="571500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df.head()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information about various disasters including location, year, disaster type, and impact.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24216-0216-1B00-7E17-970386D60F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e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1BD1A-81EC-848A-C2F7-5A3AA1DE1B6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929" y="4769644"/>
            <a:ext cx="4648200" cy="285750"/>
          </a:xfrm>
        </p:spPr>
        <p:txBody>
          <a:bodyPr/>
          <a:lstStyle/>
          <a:p>
            <a:r>
              <a:rPr lang="en-US" sz="1400" dirty="0"/>
              <a:t>School of Computing</a:t>
            </a:r>
          </a:p>
        </p:txBody>
      </p:sp>
    </p:spTree>
    <p:extLst>
      <p:ext uri="{BB962C8B-B14F-4D97-AF65-F5344CB8AC3E}">
        <p14:creationId xmlns:p14="http://schemas.microsoft.com/office/powerpoint/2010/main" val="2046517970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E8951-9E85-63DE-CFA5-C67BB7D52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800" dirty="0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CE581-6D95-E6DE-7815-D582A5580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sz="8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36B6F-8BEF-1A34-12C5-E3E0807EC1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lang="e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DBA16-E078-E8FB-C871-DED6F15B845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0" y="4714875"/>
            <a:ext cx="4648200" cy="285750"/>
          </a:xfrm>
        </p:spPr>
        <p:txBody>
          <a:bodyPr/>
          <a:lstStyle/>
          <a:p>
            <a:r>
              <a:rPr lang="en-US" sz="1400" dirty="0"/>
              <a:t>School of Computing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D35FFA-84EB-5E9B-A0AA-2C1D60D79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742950"/>
            <a:ext cx="8702233" cy="38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516503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5ABC7-93D0-50CF-DC25-1BF1D3355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0832" y="-111211"/>
            <a:ext cx="8644880" cy="765712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  <a:r>
              <a:rPr lang="en-IN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F4826-135A-A4EA-75AA-05212FBF0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Disaster datasets contain missing values which can reduce model performance.</a:t>
            </a:r>
          </a:p>
          <a:p>
            <a:pPr marL="11430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used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Identify missing values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Remove columns with more than 80% missing data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Use median imputation to fill missing values</a:t>
            </a:r>
          </a:p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Code</a:t>
            </a:r>
          </a:p>
          <a:p>
            <a:pPr marL="571500" lvl="1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Calculate missing percentage</a:t>
            </a:r>
          </a:p>
          <a:p>
            <a:pPr marL="571500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missing_percent = df_filtered.isnull().mean() * 100</a:t>
            </a:r>
          </a:p>
          <a:p>
            <a:pPr marL="571500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Identify columns with &gt;80% missing values</a:t>
            </a:r>
          </a:p>
          <a:p>
            <a:pPr marL="571500" lvl="1" indent="0">
              <a:buNone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cols_to_drop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missing_percent[missing_percent &gt; 80].index</a:t>
            </a:r>
          </a:p>
          <a:p>
            <a:pPr marL="571500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print("Columns to drop:")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C9F33-99A8-DF8C-2043-01ECF43053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lang="e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F5797-E171-109C-40C0-5A81E0A6D9A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8228" y="4714875"/>
            <a:ext cx="4648200" cy="285750"/>
          </a:xfrm>
        </p:spPr>
        <p:txBody>
          <a:bodyPr/>
          <a:lstStyle/>
          <a:p>
            <a:r>
              <a:rPr lang="en-US" sz="1400" dirty="0"/>
              <a:t>School of Computing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719184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2242-FE7F-A9BD-1573-9432181DB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800" dirty="0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753B1-8177-ADD9-6998-64E765419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lvl="1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print(cols_to_drop)</a:t>
            </a:r>
          </a:p>
          <a:p>
            <a:pPr marL="571500" lvl="1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Drop them</a:t>
            </a:r>
          </a:p>
          <a:p>
            <a:pPr marL="571500" lvl="1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df_clean=df_filtered.drop(columns=cols_to_drop)</a:t>
            </a:r>
          </a:p>
          <a:p>
            <a:pPr marL="571500" lvl="1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print("\nShape after dropping columns:", df_clean.shape)</a:t>
            </a:r>
          </a:p>
          <a:p>
            <a:pPr marL="11430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B0161-D5A8-055D-E17B-117CED6762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lang="e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5D2BA-7614-795E-B44A-F4F34F82B4A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0" y="4714875"/>
            <a:ext cx="4648200" cy="285750"/>
          </a:xfrm>
        </p:spPr>
        <p:txBody>
          <a:bodyPr/>
          <a:lstStyle/>
          <a:p>
            <a:r>
              <a:rPr lang="en-US" sz="1400" dirty="0"/>
              <a:t>School of Computing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228F1D-3B57-976E-736A-B7EDF449C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42" y="2083443"/>
            <a:ext cx="7946398" cy="250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272990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B9121-9719-AF48-6DF0-DCDA13E68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44843" y="-135924"/>
            <a:ext cx="8298891" cy="878874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B757A-0CD7-38DA-7D4F-EC87CA82E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Encoding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571500" lvl="1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sklearn.preprocessing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LabelEncoder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1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# Encode each categorical column</a:t>
            </a:r>
          </a:p>
          <a:p>
            <a:pPr marL="571500" lvl="1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encoders = {}</a:t>
            </a:r>
          </a:p>
          <a:p>
            <a:pPr marL="571500" lvl="1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for col in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categorical_cols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71500" lvl="1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le =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LabelEncoder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571500" lvl="1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X_encoded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[col] =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le.fit_transform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X_encoded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[col].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astype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(str))</a:t>
            </a:r>
          </a:p>
          <a:p>
            <a:pPr marL="571500" lvl="1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encoders[col] = le</a:t>
            </a:r>
          </a:p>
          <a:p>
            <a:pPr marL="11430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1A2F4-934C-C154-83A0-018A8EFF5D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lang="e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5F0C1-0889-63F6-D191-3774BFC18F1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19605" y="4714875"/>
            <a:ext cx="4648200" cy="285750"/>
          </a:xfrm>
        </p:spPr>
        <p:txBody>
          <a:bodyPr/>
          <a:lstStyle/>
          <a:p>
            <a:r>
              <a:rPr lang="en-US" sz="1400" dirty="0"/>
              <a:t>School of Computing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8A792D-EBB5-3247-1136-88ECB87E2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3017520"/>
            <a:ext cx="5935980" cy="159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244919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65675-8714-7C18-383E-ABCA4A04F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6E58D-342A-C239-AD72-093819176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44843" y="-135924"/>
            <a:ext cx="8298891" cy="878874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03BE7-084B-9F06-B99C-F2551155F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 feature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11430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scaler =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571500" lvl="1" indent="0">
              <a:buNone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X_scaled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scaler.fit_transform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X_clean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71500" lvl="1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BFA17-97F3-A4B7-247F-3D2A0D1B21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lang="e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F45D6-A36B-3D1F-819E-F3DD6B3BD8E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19605" y="4714875"/>
            <a:ext cx="4648200" cy="285750"/>
          </a:xfrm>
        </p:spPr>
        <p:txBody>
          <a:bodyPr/>
          <a:lstStyle/>
          <a:p>
            <a:r>
              <a:rPr lang="en-US" sz="1400" dirty="0"/>
              <a:t>School of Computing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AC7193-530A-3A78-BB28-0ED4B6FF6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1" y="2537460"/>
            <a:ext cx="3577794" cy="191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311462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7301B-4352-562F-0196-6CD66490C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5B373-B6E7-DA3D-D55C-EC8F4AFCB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" y="742950"/>
            <a:ext cx="54946387" cy="11305222"/>
          </a:xfrm>
        </p:spPr>
        <p:txBody>
          <a:bodyPr/>
          <a:lstStyle/>
          <a:p>
            <a:pPr marL="114300" indent="0">
              <a:buNone/>
            </a:pP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Test and Train</a:t>
            </a:r>
          </a:p>
          <a:p>
            <a:pPr marL="114300" indent="0">
              <a:buNone/>
            </a:pPr>
            <a:endParaRPr lang="en-US" sz="1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1" indent="0">
              <a:buNone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571500" lvl="1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X_scaled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571500" lvl="1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y,</a:t>
            </a:r>
          </a:p>
          <a:p>
            <a:pPr marL="571500" lvl="1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test_size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=0.30,</a:t>
            </a:r>
          </a:p>
          <a:p>
            <a:pPr marL="571500" lvl="1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=42,</a:t>
            </a:r>
          </a:p>
          <a:p>
            <a:pPr marL="571500" lvl="1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stratify=y</a:t>
            </a:r>
          </a:p>
          <a:p>
            <a:pPr marL="571500" lvl="1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C2C52-C25D-3A21-2218-B025C47915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lang="e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959F2-B774-8922-4D0E-30DA73DB3F0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33890" y="4738591"/>
            <a:ext cx="4648200" cy="285750"/>
          </a:xfrm>
        </p:spPr>
        <p:txBody>
          <a:bodyPr/>
          <a:lstStyle/>
          <a:p>
            <a:r>
              <a:rPr lang="en-US" sz="1400" dirty="0"/>
              <a:t>School of Computing</a:t>
            </a:r>
          </a:p>
          <a:p>
            <a:endParaRPr lang="en-US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4884095F-3795-7ABC-7292-CE0DCAF2C7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2419349"/>
            <a:ext cx="1894703" cy="189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82EEF9BD-4BE9-3F6F-59E6-5BDCE61EC9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2E61DA90-A2C5-3E09-E117-4FA1C969A5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2545492" cy="2545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FBCAB6-6352-7E1E-68AE-6F3B38763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952998"/>
            <a:ext cx="4328160" cy="336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217705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E316D-1C3A-7DF4-A85B-EA223E83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85152" y="-98854"/>
            <a:ext cx="9306192" cy="753355"/>
          </a:xfrm>
        </p:spPr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 BALANCING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F3177-F44F-0A6B-FA45-0060EF7D40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 lang="e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5F03D-60D5-840D-221B-F6C29BCDC38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-76200" y="4729162"/>
            <a:ext cx="4648200" cy="285750"/>
          </a:xfrm>
        </p:spPr>
        <p:txBody>
          <a:bodyPr/>
          <a:lstStyle/>
          <a:p>
            <a:r>
              <a:rPr lang="en-US" sz="1400" dirty="0"/>
              <a:t>School of Computing</a:t>
            </a:r>
          </a:p>
          <a:p>
            <a:endParaRPr lang="en-US" dirty="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F585C6CF-9DA5-FFB3-6AAC-99E1157A4932}"/>
              </a:ext>
            </a:extLst>
          </p:cNvPr>
          <p:cNvSpPr>
            <a:spLocks noGrp="1" noChangeAspect="1" noChangeArrowheads="1"/>
          </p:cNvSpPr>
          <p:nvPr>
            <p:ph type="body"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1430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APPLYING </a:t>
            </a:r>
          </a:p>
        </p:txBody>
      </p:sp>
      <p:sp>
        <p:nvSpPr>
          <p:cNvPr id="13" name="AutoShape 16">
            <a:extLst>
              <a:ext uri="{FF2B5EF4-FFF2-40B4-BE49-F238E27FC236}">
                <a16:creationId xmlns:a16="http://schemas.microsoft.com/office/drawing/2014/main" id="{CE931DB8-CA5B-2A8C-0779-34F50F1ACE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279DA2E-D138-279F-89CE-5CBFDA96C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90" y="1442528"/>
            <a:ext cx="8017258" cy="295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646458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EA754-42FE-FEED-D2A8-5C1B9F6C0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6496" y="-160638"/>
            <a:ext cx="7068064" cy="815139"/>
          </a:xfrm>
        </p:spPr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 BALANCING </a:t>
            </a:r>
            <a:endParaRPr lang="en-IN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CCC70-576F-CBE9-91D2-D2A12AE4E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APPLYING 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Disaster datasets are often imbalanced where some disaster types appear more frequently.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SMOTE (Synthetic Minority Oversampling Technique) is used to balance the dataset.</a:t>
            </a:r>
          </a:p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Generate synthetic samples for minority class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Balance class distribution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Improve classification performance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C57D9-C507-B159-EF7C-CD627098DC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 lang="e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4D3CA-31E0-7AB7-5E04-2BE1EA8E143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67414" y="4760934"/>
            <a:ext cx="4648200" cy="285750"/>
          </a:xfrm>
        </p:spPr>
        <p:txBody>
          <a:bodyPr/>
          <a:lstStyle/>
          <a:p>
            <a:r>
              <a:rPr lang="en-US" sz="1400" dirty="0"/>
              <a:t>School of Computing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48974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D8C67-80EF-95A7-C4E9-DE1006907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CD478-AD9C-C2F6-0559-8ADD4B112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Code</a:t>
            </a:r>
          </a:p>
          <a:p>
            <a:pPr marL="571500" lvl="1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 = SMOTE(random_state=42)</a:t>
            </a:r>
          </a:p>
          <a:p>
            <a:pPr marL="571500" lvl="1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X_train_balanced, y_train_balanced = </a:t>
            </a:r>
          </a:p>
          <a:p>
            <a:pPr marL="571500" lvl="1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smote.fit_resample(X_train, y_train)</a:t>
            </a:r>
          </a:p>
          <a:p>
            <a:pPr marL="571500" lvl="1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print("After SMOTE - Training shape:", X_train_balanced.shape)</a:t>
            </a:r>
          </a:p>
          <a:p>
            <a:pPr marL="571500" lvl="1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print("\nBalanced class distribution:")</a:t>
            </a:r>
          </a:p>
          <a:p>
            <a:pPr marL="571500" lvl="1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print(pd.Series(y_train_balanced).value_counts())</a:t>
            </a:r>
          </a:p>
          <a:p>
            <a:pPr marL="571500" lvl="1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plt.figure(figsize=(7,5))</a:t>
            </a:r>
          </a:p>
          <a:p>
            <a:pPr marL="571500" lvl="1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sns.countplot(x=y_train_balanced,  hue=y_train_balanced, palette="Set3", legend=False)</a:t>
            </a:r>
          </a:p>
          <a:p>
            <a:pPr marL="571500" lvl="1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plt.title("Class Distribution After SMOTE")</a:t>
            </a:r>
          </a:p>
          <a:p>
            <a:pPr marL="571500" lvl="1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plt.show()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871FC-CF66-879F-83ED-11BC68F3C6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 lang="e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FF651-4E0C-5467-3D1B-57025D116E4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0" y="4698549"/>
            <a:ext cx="4648200" cy="285750"/>
          </a:xfrm>
        </p:spPr>
        <p:txBody>
          <a:bodyPr/>
          <a:lstStyle/>
          <a:p>
            <a:r>
              <a:rPr lang="en-US" sz="1400" dirty="0"/>
              <a:t>School of Computing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358349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2D43D-FD62-3668-436E-85894C434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4315D-37D2-1D52-E7D3-09E65737E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" y="929782"/>
            <a:ext cx="8839200" cy="3971925"/>
          </a:xfrm>
        </p:spPr>
        <p:txBody>
          <a:bodyPr/>
          <a:lstStyle/>
          <a:p>
            <a:pPr marL="114300" indent="0">
              <a:buNone/>
            </a:pPr>
            <a:r>
              <a:rPr lang="en-IN" sz="8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2A34F-617E-BDAB-813A-D4772F3EDA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24</a:t>
            </a:fld>
            <a:endParaRPr lang="e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A4EBF-20E3-E16C-8FCB-D752A9BCC2C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5931" y="4734596"/>
            <a:ext cx="4648200" cy="285750"/>
          </a:xfrm>
        </p:spPr>
        <p:txBody>
          <a:bodyPr/>
          <a:lstStyle/>
          <a:p>
            <a:r>
              <a:rPr lang="en-US" sz="1400" dirty="0"/>
              <a:t>School of Computing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79E14F-DC5B-6DEA-D02E-4B575D242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66" y="894734"/>
            <a:ext cx="8178331" cy="359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124284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E04F8-7183-B5E4-F341-01B761F39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A75D0-35D4-E1B4-4C80-980CA66C4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8628" y="98947"/>
            <a:ext cx="6946900" cy="495300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72BDB-667F-3CAB-6C58-435C2F69C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931" y="691248"/>
            <a:ext cx="8955669" cy="4210460"/>
          </a:xfrm>
        </p:spPr>
        <p:txBody>
          <a:bodyPr/>
          <a:lstStyle/>
          <a:p>
            <a:pPr marL="114300" indent="0">
              <a:buNone/>
            </a:pPr>
            <a:r>
              <a:rPr lang="en-IN" sz="800" b="1" u="sng" dirty="0"/>
              <a:t>.</a:t>
            </a:r>
            <a:r>
              <a:rPr lang="en-IN" sz="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pPr marL="114300" indent="0">
              <a:buNone/>
            </a:pPr>
            <a:endParaRPr lang="en-IN" sz="1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1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sklearn.linear_model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LogisticRegression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1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Train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modellog_model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LogisticRegression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max_iter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=2000)</a:t>
            </a:r>
          </a:p>
          <a:p>
            <a:pPr marL="571500" lvl="1" indent="0">
              <a:buNone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log_model.fit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X_train_balanced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y_train_balanced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71500" lvl="1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1C163-1D50-1B9F-D65A-C5DBBE452C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endParaRPr lang="e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937DC-5467-33A9-701F-385518C2152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5931" y="4734596"/>
            <a:ext cx="4648200" cy="285750"/>
          </a:xfrm>
        </p:spPr>
        <p:txBody>
          <a:bodyPr/>
          <a:lstStyle/>
          <a:p>
            <a:r>
              <a:rPr lang="en-US" sz="1400" dirty="0"/>
              <a:t>School of Computing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830F62-27DC-C0F2-74B0-C3DDDAB9D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34" y="2571750"/>
            <a:ext cx="4068238" cy="20608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666CA3-7B37-8026-6AA5-29521C193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472" y="691247"/>
            <a:ext cx="3127597" cy="394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577108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C68A5-00B7-2425-46AD-7E2CD5680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5FAE2-9C7F-AAEF-B444-AE76559C3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8628" y="98947"/>
            <a:ext cx="6946900" cy="495300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08E01-32F4-B2A6-96EC-87E4849E4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81280" y="594247"/>
            <a:ext cx="8808720" cy="4140349"/>
          </a:xfrm>
        </p:spPr>
        <p:txBody>
          <a:bodyPr/>
          <a:lstStyle/>
          <a:p>
            <a:pPr marL="114300" indent="0">
              <a:buNone/>
            </a:pPr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marL="571500" lvl="1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sklearn.ensemble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RandomForestClassifier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1" indent="0"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rf_model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RandomForestClassifier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</a:t>
            </a:r>
          </a:p>
          <a:p>
            <a:pPr marL="571500" lvl="1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n_estimators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=60,      </a:t>
            </a:r>
          </a:p>
          <a:p>
            <a:pPr marL="571500" lvl="1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max_depth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=5,</a:t>
            </a:r>
          </a:p>
          <a:p>
            <a:pPr marL="571500" lvl="1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min_samples_split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=10,   </a:t>
            </a:r>
          </a:p>
          <a:p>
            <a:pPr marL="571500" lvl="1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min_samples_leaf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=8,     </a:t>
            </a:r>
          </a:p>
          <a:p>
            <a:pPr marL="571500" lvl="1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max_features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=0.6,    </a:t>
            </a:r>
          </a:p>
          <a:p>
            <a:pPr marL="571500" lvl="1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=42,  </a:t>
            </a:r>
          </a:p>
          <a:p>
            <a:pPr marL="571500" lvl="1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n_jobs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=-1</a:t>
            </a:r>
          </a:p>
          <a:p>
            <a:pPr marL="571500" lvl="1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71500" lvl="1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Train model</a:t>
            </a:r>
          </a:p>
          <a:p>
            <a:pPr marL="571500" lvl="1" indent="0"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rf_model.fit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X_train_balanced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y_train_balanced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BEDC2-47B7-4BF9-E986-31E4ED5872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26</a:t>
            </a:fld>
            <a:endParaRPr lang="e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2C666-4586-16D5-C11F-C63F07DED69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5931" y="4734596"/>
            <a:ext cx="4648200" cy="285750"/>
          </a:xfrm>
        </p:spPr>
        <p:txBody>
          <a:bodyPr/>
          <a:lstStyle/>
          <a:p>
            <a:r>
              <a:rPr lang="en-US" sz="1400" dirty="0"/>
              <a:t>School of Computing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80BE08-F73E-066C-5514-A5B89C54A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240" y="779847"/>
            <a:ext cx="3904628" cy="19255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4FE00B-F06E-7DB9-BC39-DF2923628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074" y="2740410"/>
            <a:ext cx="4947926" cy="184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285544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546FD-D98B-B07E-6B47-8FC58B034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AE1C9-BC47-5655-7782-74220BEC2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8628" y="98947"/>
            <a:ext cx="6946900" cy="495300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C635D-6ED3-B8AC-520A-7BF401390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81280" y="594247"/>
            <a:ext cx="8808720" cy="4140349"/>
          </a:xfrm>
        </p:spPr>
        <p:txBody>
          <a:bodyPr/>
          <a:lstStyle/>
          <a:p>
            <a:pPr marL="114300" indent="0">
              <a:buNone/>
            </a:pPr>
            <a:r>
              <a:rPr lang="en-IN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</a:p>
          <a:p>
            <a:pPr marL="571500" lvl="1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sklearn.svm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SVC</a:t>
            </a:r>
          </a:p>
          <a:p>
            <a:pPr marL="571500" lvl="1" indent="0"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svm_model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SVC(</a:t>
            </a:r>
          </a:p>
          <a:p>
            <a:pPr marL="571500" lvl="1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kernel='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rbf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’,</a:t>
            </a:r>
          </a:p>
          <a:p>
            <a:pPr marL="571500" lvl="1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C=1,</a:t>
            </a:r>
          </a:p>
          <a:p>
            <a:pPr marL="571500" lvl="1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gamma='scale’</a:t>
            </a:r>
          </a:p>
          <a:p>
            <a:pPr marL="571500" lvl="1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71500" lvl="1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Trainsvm_model.fit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X_train_balanced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y_train_balanced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61E91A-1379-9B67-4B08-6DFEA25FB4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endParaRPr lang="e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54334-329E-F42D-0A5B-7395B60E059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5931" y="4734596"/>
            <a:ext cx="4648200" cy="285750"/>
          </a:xfrm>
        </p:spPr>
        <p:txBody>
          <a:bodyPr/>
          <a:lstStyle/>
          <a:p>
            <a:r>
              <a:rPr lang="en-US" sz="1400" dirty="0"/>
              <a:t>School of Computing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FB7E7C-4E99-8729-3EAB-9F37BA6AB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57" y="2921644"/>
            <a:ext cx="4749429" cy="16739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C43333-C03C-B0A5-6237-BC5697150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022" y="721360"/>
            <a:ext cx="4096978" cy="391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856318"/>
      </p:ext>
    </p:extLst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7B837-FC74-D23A-60E2-B5D6FFC83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A0B89-E8EB-6ACC-4931-05E6C06F0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8628" y="98947"/>
            <a:ext cx="6946900" cy="495300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B358C-ABE2-951A-BC66-7E3BBAE09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81280" y="594247"/>
            <a:ext cx="8808720" cy="4140349"/>
          </a:xfrm>
        </p:spPr>
        <p:txBody>
          <a:bodyPr/>
          <a:lstStyle/>
          <a:p>
            <a:pPr marL="114300" indent="0">
              <a:buNone/>
            </a:pPr>
            <a:r>
              <a:rPr lang="en-IN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</a:p>
          <a:p>
            <a:pPr marL="571500" lvl="1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sklearn.neighbors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KNeighborsClassifier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1" indent="0">
              <a:buNone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knn_model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KNeighborsClassifier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571500" lvl="1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n_neighbors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best_k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571500" lvl="1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weights='distance’)</a:t>
            </a:r>
          </a:p>
          <a:p>
            <a:pPr marL="571500" lvl="1" indent="0">
              <a:buNone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knn_model.fit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X_train_balanced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y_train_balanced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1430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859D1-4588-4F5C-CC39-5AF5C8D0F4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28</a:t>
            </a:fld>
            <a:endParaRPr lang="e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2F2B6-842E-BF23-B315-1215173FD5C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5931" y="4734596"/>
            <a:ext cx="4648200" cy="285750"/>
          </a:xfrm>
        </p:spPr>
        <p:txBody>
          <a:bodyPr/>
          <a:lstStyle/>
          <a:p>
            <a:r>
              <a:rPr lang="en-US" sz="1400" dirty="0"/>
              <a:t>School of Computing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81186C-CA0D-CC11-9713-4173C4D93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66" y="2571750"/>
            <a:ext cx="4765411" cy="17822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5C50C3-D13E-E713-E974-F7CE883FA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762974"/>
            <a:ext cx="4572000" cy="386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977852"/>
      </p:ext>
    </p:extLst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52AD9-D364-8580-23DF-6BF441F36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59B1-9A35-7A75-C687-215D69F2D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8628" y="98947"/>
            <a:ext cx="6946900" cy="495300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4 - PROPOSED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F1C03-4D44-AC84-4376-770D659EF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81280" y="594247"/>
            <a:ext cx="8808720" cy="4140349"/>
          </a:xfrm>
        </p:spPr>
        <p:txBody>
          <a:bodyPr/>
          <a:lstStyle/>
          <a:p>
            <a:pPr marL="114300" indent="0">
              <a:buNone/>
            </a:pPr>
            <a:r>
              <a:rPr lang="en-IN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N-XGBOOST</a:t>
            </a:r>
          </a:p>
          <a:p>
            <a:pPr marL="571500" lvl="1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XGBClassifier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1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1" indent="0">
              <a:buNone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nxgb_model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XGBClassifier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n_estimators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=300,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max_depth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=7,    </a:t>
            </a:r>
          </a:p>
          <a:p>
            <a:pPr marL="571500" lvl="1" indent="0">
              <a:buNone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learning_rate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=0.05,    subsample=0.8,   </a:t>
            </a:r>
          </a:p>
          <a:p>
            <a:pPr marL="571500" lvl="1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colsample_bytree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=0.8,    </a:t>
            </a:r>
          </a:p>
          <a:p>
            <a:pPr marL="571500" lvl="1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objective='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multi:softprob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num_class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=3,   </a:t>
            </a:r>
          </a:p>
          <a:p>
            <a:pPr marL="571500" lvl="1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=42,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eval_metric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mlogloss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  </a:t>
            </a:r>
          </a:p>
          <a:p>
            <a:pPr marL="571500" lvl="1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use_label_encoder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=False)</a:t>
            </a:r>
          </a:p>
          <a:p>
            <a:pPr marL="571500" lvl="1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1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nxgb_model.fit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</a:t>
            </a:r>
          </a:p>
          <a:p>
            <a:pPr marL="571500" lvl="1" indent="0">
              <a:buNone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train_embeddings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571500" lvl="1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y_train_balanced_arr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</a:p>
          <a:p>
            <a:pPr marL="571500" lvl="1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eval_set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=[(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test_embeddings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y_test.values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)],  </a:t>
            </a:r>
          </a:p>
          <a:p>
            <a:pPr marL="571500" lvl="1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verbose=False)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6AE08-C096-E321-4CDD-205C0ABFA8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29</a:t>
            </a:fld>
            <a:endParaRPr lang="e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8D5C2-6BA9-B021-87DC-27FB46AE7A2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5931" y="4734596"/>
            <a:ext cx="4648200" cy="285750"/>
          </a:xfrm>
        </p:spPr>
        <p:txBody>
          <a:bodyPr/>
          <a:lstStyle/>
          <a:p>
            <a:r>
              <a:rPr lang="en-US" sz="1400" dirty="0"/>
              <a:t>School of Computing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3FB744-E97D-161B-0C43-8BCF11793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236" y="3098435"/>
            <a:ext cx="4172806" cy="15130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0A925D-F18A-4B6F-F2D0-29ADA2953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980" y="732914"/>
            <a:ext cx="4172807" cy="2365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748707"/>
      </p:ext>
    </p:extLst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3F68F-929A-A8A3-AB94-D26D27A26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37E53-3F8C-0D4A-E266-88F9DA798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8628" y="98947"/>
            <a:ext cx="6946900" cy="495300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738C7-4518-198C-72FB-4CA256975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81280" y="594247"/>
            <a:ext cx="8808720" cy="4140349"/>
          </a:xfrm>
        </p:spPr>
        <p:txBody>
          <a:bodyPr/>
          <a:lstStyle/>
          <a:p>
            <a:pPr marL="571500" lvl="1" indent="0">
              <a:buNone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MODAL 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6EEFA-FC3E-F08B-84FF-31C611CDC8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30</a:t>
            </a:fld>
            <a:endParaRPr lang="e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64B2B-850F-769D-8913-C1252F860D9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5931" y="4734596"/>
            <a:ext cx="4648200" cy="285750"/>
          </a:xfrm>
        </p:spPr>
        <p:txBody>
          <a:bodyPr/>
          <a:lstStyle/>
          <a:p>
            <a:r>
              <a:rPr lang="en-US" sz="1400" dirty="0"/>
              <a:t>School of Computing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CF3D5E-9BFA-B8D1-2C59-2D656AE10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45" y="1089547"/>
            <a:ext cx="7511971" cy="3540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718557"/>
      </p:ext>
    </p:extLst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9BB06-E0C5-0829-DD39-883C7AA92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4516" y="142399"/>
            <a:ext cx="6946900" cy="4953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E91B0-FE62-F9D5-7BBD-B05D53249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9713" y="684214"/>
            <a:ext cx="9022080" cy="3902201"/>
          </a:xfrm>
        </p:spPr>
        <p:txBody>
          <a:bodyPr/>
          <a:lstStyle/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 &amp; Risk Scoring</a:t>
            </a:r>
          </a:p>
          <a:p>
            <a:pPr marL="11430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is used to explain model predictions 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important features influencing disasters 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 Risk Score Index (DRSI) is calculated 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probability, SHAP values, and confidence 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risk levels (Low, Moderate, High, Critical) 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FC3CC-A884-D6DF-E2B5-9C267F62AD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31</a:t>
            </a:fld>
            <a:endParaRPr lang="e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34565-DD26-AA0C-999A-AAC9141AC97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0" y="4769644"/>
            <a:ext cx="4648200" cy="285750"/>
          </a:xfrm>
        </p:spPr>
        <p:txBody>
          <a:bodyPr/>
          <a:lstStyle/>
          <a:p>
            <a:r>
              <a:rPr lang="en-US" dirty="0"/>
              <a:t>School of Computing</a:t>
            </a:r>
          </a:p>
        </p:txBody>
      </p:sp>
    </p:spTree>
    <p:extLst>
      <p:ext uri="{BB962C8B-B14F-4D97-AF65-F5344CB8AC3E}">
        <p14:creationId xmlns:p14="http://schemas.microsoft.com/office/powerpoint/2010/main" val="347178266"/>
      </p:ext>
    </p:extLst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D55E5-2977-375E-AD96-C8AFF73BA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A7D82-4522-5B38-78FD-04D687E94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4516" y="142399"/>
            <a:ext cx="6946900" cy="495300"/>
          </a:xfrm>
        </p:spPr>
        <p:txBody>
          <a:bodyPr/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Flowdiagram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7ECD7-474E-13CC-E614-36B2FA015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9713" y="684214"/>
            <a:ext cx="9022080" cy="3902201"/>
          </a:xfrm>
        </p:spPr>
        <p:txBody>
          <a:bodyPr/>
          <a:lstStyle/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System with Explainability &amp; Risk Scoring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499D1-BD1A-A870-DB6D-7ED2BEF61A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32</a:t>
            </a:fld>
            <a:endParaRPr lang="e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9C82C-8779-DABC-0C39-7BDC03E2E09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0" y="4769644"/>
            <a:ext cx="4648200" cy="285750"/>
          </a:xfrm>
        </p:spPr>
        <p:txBody>
          <a:bodyPr/>
          <a:lstStyle/>
          <a:p>
            <a:r>
              <a:rPr lang="en-US" dirty="0"/>
              <a:t>School of Computing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3DB8A2-5862-2D21-5EF6-FE0942453A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64" t="28710" b="22589"/>
          <a:stretch>
            <a:fillRect/>
          </a:stretch>
        </p:blipFill>
        <p:spPr>
          <a:xfrm>
            <a:off x="128789" y="1319279"/>
            <a:ext cx="8776951" cy="287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206103"/>
      </p:ext>
    </p:extLst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88482-34E6-7494-0F92-C2BBF9C3D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D54CA-D417-35C3-79BF-9B91DAB53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8628" y="98947"/>
            <a:ext cx="6946900" cy="495300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 Risk Score Index (DRSI)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940B2-5A2F-A392-613D-56EC9DD37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704803"/>
            <a:ext cx="8727439" cy="4029791"/>
          </a:xfrm>
        </p:spPr>
        <p:txBody>
          <a:bodyPr/>
          <a:lstStyle/>
          <a:p>
            <a:pPr marL="571500" lvl="1" indent="0">
              <a:buNone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8B79E-6774-6CDE-DA0F-EFE9523F2E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33</a:t>
            </a:fld>
            <a:endParaRPr lang="e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BA25C-8F34-504D-3B65-204FB2C1E25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5931" y="4734596"/>
            <a:ext cx="4648200" cy="285750"/>
          </a:xfrm>
        </p:spPr>
        <p:txBody>
          <a:bodyPr/>
          <a:lstStyle/>
          <a:p>
            <a:r>
              <a:rPr lang="en-US" sz="1400" dirty="0"/>
              <a:t>School of Computing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790C87-8BE5-5C10-A3F8-6A98DFD34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2" y="752095"/>
            <a:ext cx="3339063" cy="18196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D9DB7AB-D394-84D6-0C76-9E5A819556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7792" y="704804"/>
            <a:ext cx="5396207" cy="38471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40BEDBB-1449-AC86-2B88-AFE33B26FA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1" y="2664421"/>
            <a:ext cx="3611551" cy="172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464424"/>
      </p:ext>
    </p:extLst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CF238-065F-5E0D-DF3E-498375232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743CD-A0B1-943D-C991-93190B341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8628" y="98947"/>
            <a:ext cx="6946900" cy="495300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Gradio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4F5E2-1083-C015-51D8-9F736DA97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81280" y="594247"/>
            <a:ext cx="8808720" cy="4140349"/>
          </a:xfrm>
        </p:spPr>
        <p:txBody>
          <a:bodyPr/>
          <a:lstStyle/>
          <a:p>
            <a:pPr marL="571500" lvl="1" indent="0">
              <a:buNone/>
            </a:pPr>
            <a:endParaRPr 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1" indent="0">
              <a:buNone/>
            </a:pPr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with SHAP Explainability + Disaster Risk Score Index (DRSI)</a:t>
            </a:r>
          </a:p>
          <a:p>
            <a:pPr marL="571500" lvl="1" indent="0">
              <a:buNone/>
            </a:pPr>
            <a:endParaRPr 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1" indent="0">
              <a:buNone/>
            </a:pPr>
            <a:endParaRPr lang="en-IN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33F77-5F7E-CD98-A1B8-ACF7D143B9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34</a:t>
            </a:fld>
            <a:endParaRPr lang="e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1F034-BC6C-8D70-716C-36F283D96E2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5931" y="4734596"/>
            <a:ext cx="4648200" cy="285750"/>
          </a:xfrm>
        </p:spPr>
        <p:txBody>
          <a:bodyPr/>
          <a:lstStyle/>
          <a:p>
            <a:r>
              <a:rPr lang="en-US" sz="1400" dirty="0"/>
              <a:t>School of Computing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76EB34-A843-244E-D697-742FA89F0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2" y="1170957"/>
            <a:ext cx="9035924" cy="342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592251"/>
      </p:ext>
    </p:extLst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819900" cy="715963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Expected Outcome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0" y="715964"/>
            <a:ext cx="9144000" cy="4042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7F93709-5B15-B4DC-8A57-34F02C7B4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758061"/>
            <a:ext cx="4648200" cy="285750"/>
          </a:xfrm>
        </p:spPr>
        <p:txBody>
          <a:bodyPr/>
          <a:lstStyle/>
          <a:p>
            <a:pPr lvl="0">
              <a:defRPr/>
            </a:pPr>
            <a:r>
              <a:rPr lang="en-US" sz="1400" dirty="0"/>
              <a:t>School of Computing 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36856" y="0"/>
            <a:ext cx="3107144" cy="720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7">
            <a:extLst>
              <a:ext uri="{FF2B5EF4-FFF2-40B4-BE49-F238E27FC236}">
                <a16:creationId xmlns:a16="http://schemas.microsoft.com/office/drawing/2014/main" id="{C7169B3F-CF19-E17A-70D5-ACF22756842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-1" y="715963"/>
            <a:ext cx="9344724" cy="3776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prediction of floods, wildfires, and earthquakes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performance than traditional ML models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imbalanced data using SMOTE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feature learning using Neural + XGBoost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prediction error and higher reliability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disaster management and risk assessment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in better decision-making and resource allocation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 model for other disaster datasets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extended to real-time systems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effectiveness of hybrid learning models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explainable predictions using SHAP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Introduces DRSI for risk scoring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7253227"/>
      </p:ext>
    </p:extLst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819900" cy="715963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Work Plan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0" y="693683"/>
            <a:ext cx="9144000" cy="3988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0975" lvl="1" indent="-180975" algn="just">
              <a:lnSpc>
                <a:spcPct val="150000"/>
              </a:lnSpc>
              <a:defRPr/>
            </a:pPr>
            <a:endParaRPr lang="en-US" sz="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7F93709-5B15-B4DC-8A57-34F02C7B4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750441"/>
            <a:ext cx="4648200" cy="285750"/>
          </a:xfrm>
        </p:spPr>
        <p:txBody>
          <a:bodyPr/>
          <a:lstStyle/>
          <a:p>
            <a:pPr lvl="0">
              <a:defRPr/>
            </a:pPr>
            <a:r>
              <a:rPr lang="en-US" sz="1400" dirty="0"/>
              <a:t>School of Computing </a:t>
            </a:r>
          </a:p>
        </p:txBody>
      </p:sp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7797271"/>
              </p:ext>
            </p:extLst>
          </p:nvPr>
        </p:nvGraphicFramePr>
        <p:xfrm>
          <a:off x="0" y="727842"/>
          <a:ext cx="9144000" cy="4014271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90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8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4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6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  <a:r>
                        <a:rPr lang="en-US" sz="13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Period</a:t>
                      </a:r>
                      <a:endParaRPr lang="en-IN"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</a:t>
                      </a:r>
                      <a:r>
                        <a:rPr lang="en-US" sz="13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Particulars</a:t>
                      </a:r>
                      <a:endParaRPr lang="en-IN"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of Work Completed</a:t>
                      </a:r>
                      <a:endParaRPr lang="en-IN"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476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Zeroth</a:t>
                      </a:r>
                      <a:r>
                        <a:rPr lang="en-US" sz="13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Review</a:t>
                      </a:r>
                      <a:endParaRPr lang="en-IN"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 paper confirmation (Neural-XGBoost disaster prediction model)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identification (Disaster prediction and impact analysis)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&amp; Software requirement analysis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Detailed literature review on disaster prediction using ML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architecture design (Dataset → ML Model → Prediction)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 identification (5-module structure)</a:t>
                      </a:r>
                    </a:p>
                    <a:p>
                      <a:b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Font typeface="Arial" pitchFamily="34" charset="0"/>
                        <a:buNone/>
                      </a:pPr>
                      <a:endParaRPr lang="en-US" sz="13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20%</a:t>
                      </a:r>
                      <a:endParaRPr lang="en-IN"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611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</a:t>
                      </a:r>
                      <a:r>
                        <a:rPr lang="en-US" sz="13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Review</a:t>
                      </a:r>
                      <a:endParaRPr lang="en-IN"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collection from EM-DAT database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preprocessing and normalization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Handling missing values and SMOTE balancing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buFont typeface="Arial" pitchFamily="34" charset="0"/>
                        <a:buNone/>
                      </a:pPr>
                      <a:endParaRPr lang="en-IN"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60%</a:t>
                      </a:r>
                      <a:endParaRPr lang="en-IN"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83694" y="0"/>
            <a:ext cx="3160306" cy="720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37253227"/>
      </p:ext>
    </p:extLst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588AA87A-D81A-5B36-B033-48233B590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79A0665-CA15-AEB7-BA3A-D7F050B82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19900" cy="715963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Work Plan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A8FC0C6-5FAA-5B71-1A5D-D8C9B94AB0CD}"/>
              </a:ext>
            </a:extLst>
          </p:cNvPr>
          <p:cNvSpPr txBox="1">
            <a:spLocks/>
          </p:cNvSpPr>
          <p:nvPr/>
        </p:nvSpPr>
        <p:spPr>
          <a:xfrm>
            <a:off x="0" y="693683"/>
            <a:ext cx="9144000" cy="3988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0975" lvl="1" indent="-180975" algn="just">
              <a:lnSpc>
                <a:spcPct val="150000"/>
              </a:lnSpc>
              <a:defRPr/>
            </a:pPr>
            <a:endParaRPr lang="en-US" sz="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4F79A92-EEE6-3D0F-C371-36F00ACF7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758061"/>
            <a:ext cx="4648200" cy="285750"/>
          </a:xfrm>
        </p:spPr>
        <p:txBody>
          <a:bodyPr/>
          <a:lstStyle/>
          <a:p>
            <a:pPr lvl="0">
              <a:defRPr/>
            </a:pPr>
            <a:r>
              <a:rPr lang="en-US" sz="1400" dirty="0"/>
              <a:t>School of Computing </a:t>
            </a:r>
          </a:p>
        </p:txBody>
      </p:sp>
      <p:graphicFrame>
        <p:nvGraphicFramePr>
          <p:cNvPr id="13" name="Content Placeholder 5">
            <a:extLst>
              <a:ext uri="{FF2B5EF4-FFF2-40B4-BE49-F238E27FC236}">
                <a16:creationId xmlns:a16="http://schemas.microsoft.com/office/drawing/2014/main" id="{8ABEA27B-8A7B-3D27-8EBB-DBC54B08E7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7985085"/>
              </p:ext>
            </p:extLst>
          </p:nvPr>
        </p:nvGraphicFramePr>
        <p:xfrm>
          <a:off x="0" y="715963"/>
          <a:ext cx="9143999" cy="396639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15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8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29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  <a:r>
                        <a:rPr lang="en-US" sz="13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Period</a:t>
                      </a:r>
                      <a:endParaRPr lang="en-IN"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</a:t>
                      </a:r>
                      <a:r>
                        <a:rPr lang="en-US" sz="13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Particulars</a:t>
                      </a:r>
                      <a:endParaRPr lang="en-IN"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of Work Completed</a:t>
                      </a:r>
                      <a:endParaRPr lang="en-IN"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119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</a:t>
                      </a:r>
                      <a:r>
                        <a:rPr lang="en-US" sz="13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Review</a:t>
                      </a:r>
                      <a:endParaRPr lang="en-IN"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Neural Network implementation for feature extraction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 model development and initial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60%</a:t>
                      </a:r>
                      <a:endParaRPr lang="en-IN"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591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</a:t>
                      </a:r>
                      <a:r>
                        <a:rPr lang="en-US" sz="13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Review</a:t>
                      </a:r>
                      <a:endParaRPr lang="en-IN"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 hybrid model implementation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Disaster prediction and classification (Flood, Wildfire, Earthquake)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evaluation (Accuracy, Precision, Recall, F1-score)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 analysis with traditional ML models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 visualization and analysis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Adding the novelty include 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explainable predictions using SHAP.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Introduces a new risk scoring system (DRSI).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  <a:endParaRPr lang="en-IN"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4338" name="Picture 2">
            <a:extLst>
              <a:ext uri="{FF2B5EF4-FFF2-40B4-BE49-F238E27FC236}">
                <a16:creationId xmlns:a16="http://schemas.microsoft.com/office/drawing/2014/main" id="{ED7DACA7-865D-F6C7-D77C-0FA2515EE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83694" y="0"/>
            <a:ext cx="3160306" cy="720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44514017"/>
      </p:ext>
    </p:extLst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819900" cy="715963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0" y="1154824"/>
            <a:ext cx="9144000" cy="3988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A. Saleem, W. Benjapolakul, W. Srisiri, S. Chaitusaney, and P. Kaewplung, “A hybrid prediction model integrating artificial intelligence and geospatial analysis for disaster management,” 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13, pp. 43716–43727, 2025.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T. Thirukrishna, “An enhanced discovery of multiple natural disasters using machine learning model,” 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Earth Sci. Informat.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18, no. 3, p. 324, Sep. 2025.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I. Donatti, K. Nicholas, G. Fedele, D. Delforge, N. Speybroeck, P. Moraga, J. Blatter, R. Below, and A. Zvoleff, “Global hotspots of climate-related disasters,” 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Int. J. Disaster Risk Reduction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108, Jun. 2024, Art. no. 104488.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7F93709-5B15-B4DC-8A57-34F02C7B4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758061"/>
            <a:ext cx="4648200" cy="285750"/>
          </a:xfrm>
        </p:spPr>
        <p:txBody>
          <a:bodyPr/>
          <a:lstStyle/>
          <a:p>
            <a:pPr lvl="0">
              <a:defRPr/>
            </a:pPr>
            <a:r>
              <a:rPr lang="en-US" sz="1400" dirty="0"/>
              <a:t>School of Computing 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36856" y="0"/>
            <a:ext cx="3107144" cy="720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37253227"/>
      </p:ext>
    </p:extLst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>
          <a:xfrm>
            <a:off x="2510428" y="1876598"/>
            <a:ext cx="9144000" cy="3988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0975" lvl="1" indent="-180975" algn="just">
              <a:lnSpc>
                <a:spcPct val="150000"/>
              </a:lnSpc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itchFamily="18" charset="0"/>
              </a:rPr>
              <a:t>THANK YOU !</a:t>
            </a:r>
          </a:p>
          <a:p>
            <a:pPr marL="180975" lvl="1" indent="-180975" algn="just">
              <a:lnSpc>
                <a:spcPct val="150000"/>
              </a:lnSpc>
              <a:defRPr/>
            </a:pPr>
            <a:endParaRPr lang="en-US" sz="32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7F93709-5B15-B4DC-8A57-34F02C7B4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758061"/>
            <a:ext cx="4648200" cy="285750"/>
          </a:xfrm>
        </p:spPr>
        <p:txBody>
          <a:bodyPr/>
          <a:lstStyle/>
          <a:p>
            <a:pPr lvl="0">
              <a:defRPr/>
            </a:pPr>
            <a:r>
              <a:rPr lang="en-US" sz="1400" dirty="0"/>
              <a:t>School of Computing 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36856" y="0"/>
            <a:ext cx="3107144" cy="574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37253227"/>
      </p:ext>
    </p:extLst>
  </p:cSld>
  <p:clrMapOvr>
    <a:masterClrMapping/>
  </p:clrMapOvr>
  <p:transition spd="med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DEFAULT DESIGN" val="bN5IHMGV"/>
  <p:tag name="ARTICULATE_DESIGN_ID_SIMPLE LIGHT" val="OtHtUL0i"/>
  <p:tag name="ARTICULATE_DESIGN_ID_CUSTOM DESIGN" val="HoH7dukl"/>
  <p:tag name="ARTICULATE_PROJECT_OPEN" val="0"/>
  <p:tag name="ARTICULATE_SLIDE_COUNT" val="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Default Design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7696</TotalTime>
  <Words>2427</Words>
  <Application>Microsoft Office PowerPoint</Application>
  <PresentationFormat>On-screen Show (16:9)</PresentationFormat>
  <Paragraphs>419</Paragraphs>
  <Slides>39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Arial</vt:lpstr>
      <vt:lpstr>Wingdings 2</vt:lpstr>
      <vt:lpstr>Times New Roman</vt:lpstr>
      <vt:lpstr>Calibri Light</vt:lpstr>
      <vt:lpstr>Wingdings</vt:lpstr>
      <vt:lpstr>Calibri</vt:lpstr>
      <vt:lpstr>Default Design</vt:lpstr>
      <vt:lpstr>Custom Design</vt:lpstr>
      <vt:lpstr>PowerPoint Presentation</vt:lpstr>
      <vt:lpstr>Base Paper Details </vt:lpstr>
      <vt:lpstr>Abstract</vt:lpstr>
      <vt:lpstr>Introduction</vt:lpstr>
      <vt:lpstr>Literature Review</vt:lpstr>
      <vt:lpstr>Literature Review</vt:lpstr>
      <vt:lpstr>Problem Statement</vt:lpstr>
      <vt:lpstr>Dataset</vt:lpstr>
      <vt:lpstr>Objective</vt:lpstr>
      <vt:lpstr>Methodology </vt:lpstr>
      <vt:lpstr>Flow diagram / System Architecture</vt:lpstr>
      <vt:lpstr>List of Modules</vt:lpstr>
      <vt:lpstr>Hardware and Software Requirements</vt:lpstr>
      <vt:lpstr>Module 1</vt:lpstr>
      <vt:lpstr>.</vt:lpstr>
      <vt:lpstr>Module 2 </vt:lpstr>
      <vt:lpstr>.</vt:lpstr>
      <vt:lpstr>Module 3 </vt:lpstr>
      <vt:lpstr>Module 3 </vt:lpstr>
      <vt:lpstr>PowerPoint Presentation</vt:lpstr>
      <vt:lpstr>SMOTE BALANCING</vt:lpstr>
      <vt:lpstr>SMOTE BALANCING </vt:lpstr>
      <vt:lpstr>PowerPoint Presentation</vt:lpstr>
      <vt:lpstr>PowerPoint Presentation</vt:lpstr>
      <vt:lpstr>BASELINE MODEL</vt:lpstr>
      <vt:lpstr>BASELINE MODEL</vt:lpstr>
      <vt:lpstr>BASELINE MODEL</vt:lpstr>
      <vt:lpstr>BASELINE MODEL</vt:lpstr>
      <vt:lpstr>Module 4 - PROPOSED MODEL</vt:lpstr>
      <vt:lpstr>Module 5</vt:lpstr>
      <vt:lpstr>Module 6</vt:lpstr>
      <vt:lpstr>Flowdiagram </vt:lpstr>
      <vt:lpstr>Disaster Risk Score Index (DRSI) </vt:lpstr>
      <vt:lpstr> Gradio Interface</vt:lpstr>
      <vt:lpstr>Expected Outcome</vt:lpstr>
      <vt:lpstr>Work Plan</vt:lpstr>
      <vt:lpstr>Work Plan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Saismiruthi Mathivanan</cp:lastModifiedBy>
  <cp:revision>401</cp:revision>
  <dcterms:modified xsi:type="dcterms:W3CDTF">2026-04-26T04:42:55Z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BFFA965C-59A0-4E24-9CA6-DD0C25A12125</vt:lpwstr>
  </property>
  <property fmtid="{D5CDD505-2E9C-101B-9397-08002B2CF9AE}" pid="3" name="ArticulatePath">
    <vt:lpwstr>Zeroth Review</vt:lpwstr>
  </property>
</Properties>
</file>